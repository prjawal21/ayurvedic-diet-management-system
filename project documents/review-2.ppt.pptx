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69" r:id="rId3"/>
    <p:sldId id="283" r:id="rId4"/>
    <p:sldId id="284" r:id="rId5"/>
    <p:sldId id="297" r:id="rId6"/>
    <p:sldId id="285" r:id="rId7"/>
    <p:sldId id="286" r:id="rId8"/>
    <p:sldId id="287" r:id="rId9"/>
    <p:sldId id="296" r:id="rId10"/>
    <p:sldId id="288" r:id="rId11"/>
    <p:sldId id="289" r:id="rId12"/>
    <p:sldId id="294" r:id="rId13"/>
    <p:sldId id="290" r:id="rId14"/>
    <p:sldId id="291" r:id="rId15"/>
    <p:sldId id="295" r:id="rId16"/>
    <p:sldId id="292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6" d="100"/>
          <a:sy n="96" d="100"/>
        </p:scale>
        <p:origin x="-149" y="2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ZulgAKsm2S5jZItavX_UfWM3CI-ItzLa5PzM_TPYpz8/edit?usp=shari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eam-university-projects/emotionally-aware-conversational-companion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57260" cy="91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Comprehensive Cloud-Based Practice Management &amp; Nutrient Analysis Software for </a:t>
            </a:r>
            <a:r>
              <a:rPr lang="en-US" sz="3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Ayurvedic</a:t>
            </a:r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Dietitians, Tailored for Ayurveda-Focused Diet Plans</a:t>
            </a:r>
            <a:endParaRPr sz="3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CSE_191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>
              <a:buClr>
                <a:srgbClr val="17365D"/>
              </a:buClr>
              <a:buSzPts val="20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US" sz="20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Guidance</a:t>
            </a:r>
            <a:r>
              <a:rPr lang="en-US" sz="20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of,</a:t>
            </a:r>
          </a:p>
          <a:p>
            <a:pPr lvl="0" algn="ctr">
              <a:buClr>
                <a:srgbClr val="17365D"/>
              </a:buClr>
              <a:buSzPts val="2000"/>
            </a:pPr>
            <a:endParaRPr lang="en-US" sz="20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ts val="2000"/>
            </a:pPr>
            <a:r>
              <a:rPr lang="en-US" sz="20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US" sz="2000" b="1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Arun</a:t>
            </a:r>
            <a:r>
              <a:rPr lang="en-US" sz="20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Kumar</a:t>
            </a:r>
            <a:endParaRPr lang="en-US" sz="20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ts val="20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</a:p>
          <a:p>
            <a:pPr lvl="0">
              <a:buClr>
                <a:srgbClr val="17365D"/>
              </a:buClr>
              <a:buSzPts val="20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400"/>
              </a:spcBef>
              <a:buClr>
                <a:srgbClr val="17365D"/>
              </a:buClr>
              <a:buSzPts val="2000"/>
            </a:pPr>
            <a:endParaRPr lang="en-US" sz="24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158326825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 smtClean="0"/>
                        <a:t>20221CSE0425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/>
                        <a:t>N</a:t>
                      </a:r>
                      <a:r>
                        <a:rPr lang="en-US" sz="1800" u="none" strike="noStrike" cap="none" baseline="0" dirty="0" smtClean="0"/>
                        <a:t> VISHAL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/>
                        <a:t>20221CSE0483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/>
                        <a:t>PRAYAS</a:t>
                      </a:r>
                      <a:r>
                        <a:rPr lang="en-US" sz="1800" u="none" strike="noStrike" cap="none" baseline="0" dirty="0" smtClean="0"/>
                        <a:t> MOHANTY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/>
                        <a:t>20221CSE0332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/>
                        <a:t>PRAJWAL</a:t>
                      </a:r>
                      <a:r>
                        <a:rPr lang="en-US" sz="1800" u="none" strike="noStrike" cap="none" baseline="0" dirty="0" smtClean="0"/>
                        <a:t> P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Computer Science and Engineering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Blessed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r. Muthuraj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SIH25024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57784" y="987552"/>
            <a:ext cx="11036808" cy="535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Student Innovation: Swadeshi for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Atmanirbhar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Bharat - MedTech / BioTech / HealthTech:</a:t>
            </a:r>
          </a:p>
          <a:p>
            <a:pPr marL="342900" lvl="0" indent="-19050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 Multimodal Emotion-Aware Conversational Agent for Mental Well-Being Using Audio-Visual Signals and Large Language Models.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None/>
            </a:pP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advances in artificial intelligence have enabled conversational agents to interact fluently with users however, these systems largely remain emotion agnostic. 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designing a multimodal conversational agent that integrates </a:t>
            </a:r>
          </a:p>
          <a:p>
            <a:pPr marL="952500" lvl="1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expression analysis </a:t>
            </a:r>
          </a:p>
          <a:p>
            <a:pPr marL="952500" lvl="1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speech-based emotion recognition</a:t>
            </a:r>
          </a:p>
          <a:p>
            <a:pPr marL="952500" lvl="1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</a:t>
            </a:r>
          </a:p>
          <a:p>
            <a:pPr marL="60960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infer emotional context and produce emotionally appropriate vocal responses, with an emphasis on mental well-being support.</a:t>
            </a:r>
            <a:endParaRPr 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>
              <a:lnSpc>
                <a:spcPct val="150000"/>
              </a:lnSpc>
              <a:spcBef>
                <a:spcPts val="0"/>
              </a:spcBef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4607CE-CDB1-8C44-A3FC-478F0CF7A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E3472D-DD6F-99F9-81F8-4EE497D37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9981"/>
            <a:ext cx="10668000" cy="495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Comprehensive Cloud-Based Practice Management &amp; Nutrient Analysis Software addresses the limitations of manual, handwritten diet charts in </a:t>
            </a:r>
            <a:r>
              <a:rPr lang="en-US" dirty="0" err="1"/>
              <a:t>Ayurvedic</a:t>
            </a:r>
            <a:r>
              <a:rPr lang="en-US" dirty="0"/>
              <a:t> hospitals by providing a specialized platform for dietitians. It integrates modern nutrient tracking (calories, macros/micros) with core </a:t>
            </a:r>
            <a:r>
              <a:rPr lang="en-US" dirty="0" err="1"/>
              <a:t>Ayurvedic</a:t>
            </a:r>
            <a:r>
              <a:rPr lang="en-US" dirty="0"/>
              <a:t> principles like food properties (Hot/Cold, digestibility), six tastes (Rasa), and patient-specific </a:t>
            </a:r>
            <a:r>
              <a:rPr lang="en-US" dirty="0" err="1"/>
              <a:t>dosha</a:t>
            </a:r>
            <a:r>
              <a:rPr lang="en-US" dirty="0"/>
              <a:t> balancing.</a:t>
            </a:r>
          </a:p>
          <a:p>
            <a:r>
              <a:rPr lang="en-US" dirty="0"/>
              <a:t>Key capabilities include a database of 8,000+ foods across cuisines, automated generation of balanced diet charts and recipes, patient profiles tracking age/gender/habits/health metrics, secure cloud storage compliant with health regulations, mobile-friendly UX, HIS/EHR integration, and printable reports. This enables efficient, accurate, holistic dietary care tailored for men, women, and children</a:t>
            </a:r>
          </a:p>
          <a:p>
            <a:pPr marL="7620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70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76FB16-463B-2CD5-B64B-68C8B5C9D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B1C5CB1-80FA-76EF-9345-668629BD1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76200" indent="0">
              <a:buNone/>
            </a:pPr>
            <a:r>
              <a:rPr lang="en-IN" dirty="0">
                <a:hlinkClick r:id="rId2"/>
              </a:rPr>
              <a:t>https://docs.google.com/document/d/1ZulgAKsm2S5jZItavX_UfWM3CI-ItzLa5PzM_TPYpz8/edit?usp=sharing</a:t>
            </a:r>
            <a:r>
              <a:rPr lang="en-IN" dirty="0"/>
              <a:t> </a:t>
            </a:r>
          </a:p>
          <a:p>
            <a:pPr marL="7620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research papers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spanning: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foundations of emotion (FACS)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Emotion Recognition (CNN-based FER)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Emotion Recognition benchmarks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emotion &amp; sentiment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Emotion-aware conversational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for adaptive dialogue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multimodal datasets (MELD, CMU-MOSEI)</a:t>
            </a:r>
          </a:p>
          <a:p>
            <a:pPr marL="7620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Key Insights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cues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strong emotional signals but are sensitive to noise and occlusion.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Speech-based emotion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tone and stress but struggles with speaker variability.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Text-based models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 semantics but miss non-verbal emotional cues.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improves emotion recognition accuracy.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adaptive, context-aware responses but require explicit emotion conditioning.</a:t>
            </a:r>
          </a:p>
          <a:p>
            <a:pPr marL="762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5510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011C369-8574-AFD4-D6FD-CCC4CD602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36A3F3-CD96-0176-51FA-88FEC6F9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53F3A6F-FE4B-8B8F-0526-5F0F5B898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Gap Identified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existing system offers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real-time, fully integrated multimodal emotion-aware conversational agent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fuses audio, video, and text emotions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 responses emotionally during live interaction</a:t>
            </a:r>
          </a:p>
          <a:p>
            <a:pPr marL="762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Relevance to Proposed Work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validates the need for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emotion perception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limitations of unimodal and static fusion approaches.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addresses these gaps through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confidence-weighted fusion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emotion-conditioned conversational 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127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6BDFED-3764-A923-5A96-B10AD7980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4F4A201-0F48-0824-CDA4-C7BBF3336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b="1" dirty="0"/>
              <a:t>Primary Objectives</a:t>
            </a:r>
          </a:p>
          <a:p>
            <a:r>
              <a:rPr lang="en-US" sz="1800" dirty="0"/>
              <a:t>Develop a cloud-based platform to automate patient-specific </a:t>
            </a:r>
            <a:r>
              <a:rPr lang="en-US" sz="1800" dirty="0" err="1"/>
              <a:t>Ayurvedic</a:t>
            </a:r>
            <a:r>
              <a:rPr lang="en-US" sz="1800" dirty="0"/>
              <a:t> diet chart creation, replacing inefficient manual handwritten processes.</a:t>
            </a:r>
          </a:p>
          <a:p>
            <a:r>
              <a:rPr lang="en-US" sz="1800" dirty="0"/>
              <a:t>Integrate scientific nutrient analysis (calories, macros/micros) with </a:t>
            </a:r>
            <a:r>
              <a:rPr lang="en-US" sz="1800" dirty="0" err="1"/>
              <a:t>Ayurvedic</a:t>
            </a:r>
            <a:r>
              <a:rPr lang="en-US" sz="1800" dirty="0"/>
              <a:t> principles like six tastes (Rasa), food properties (Hot/Cold, digestibility), and </a:t>
            </a:r>
            <a:r>
              <a:rPr lang="en-US" sz="1800" dirty="0" err="1"/>
              <a:t>dosha</a:t>
            </a:r>
            <a:r>
              <a:rPr lang="en-US" sz="1800" dirty="0"/>
              <a:t> balancing.</a:t>
            </a:r>
          </a:p>
          <a:p>
            <a:r>
              <a:rPr lang="en-US" sz="1800" b="1" dirty="0"/>
              <a:t>Key Functional Objectives</a:t>
            </a:r>
          </a:p>
          <a:p>
            <a:r>
              <a:rPr lang="en-US" sz="1800" dirty="0"/>
              <a:t>Build a comprehensive database of 8,000+ foods from Indian/multicultural/international cuisines, customized for age/gender groups.</a:t>
            </a:r>
          </a:p>
          <a:p>
            <a:r>
              <a:rPr lang="en-US" sz="1800" dirty="0"/>
              <a:t>Enable automated generation of nutritionally balanced, Ayurveda-compliant diet plans and recipe-based charts with detailed analysis.</a:t>
            </a:r>
          </a:p>
          <a:p>
            <a:r>
              <a:rPr lang="en-US" sz="1800" dirty="0"/>
              <a:t>Create a patient management module capturing profiles, dietary habits, meal frequency, bowel movements, water intake, and health parameters.</a:t>
            </a:r>
          </a:p>
          <a:p>
            <a:r>
              <a:rPr lang="en-US" sz="1800" b="1" dirty="0"/>
              <a:t>Operational &amp; Compliance Objectives</a:t>
            </a:r>
          </a:p>
          <a:p>
            <a:r>
              <a:rPr lang="en-US" sz="1800" dirty="0"/>
              <a:t>Ensure data security and privacy adhering to HIPAA/local health regulations.</a:t>
            </a:r>
          </a:p>
          <a:p>
            <a:r>
              <a:rPr lang="en-US" sz="1800" dirty="0"/>
              <a:t>Deliver intuitive UX for dietitians, with mobile/tablet support, HIS/EHR integration, and printable reporting tools.</a:t>
            </a:r>
          </a:p>
          <a:p>
            <a:r>
              <a:rPr lang="en-US" sz="1800" dirty="0"/>
              <a:t>Support scalable, on-the-go usage in </a:t>
            </a:r>
            <a:r>
              <a:rPr lang="en-US" sz="1800" dirty="0" err="1"/>
              <a:t>Ayurvedic</a:t>
            </a:r>
            <a:r>
              <a:rPr lang="en-US" sz="1800" dirty="0"/>
              <a:t> hospitals for holistic, accurate dietary care.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52304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F652E8-B03F-4409-FC76-99B1E528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Methods and Drawbacks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E522270-23C9-E690-DC45-C38E404FDA1D}"/>
              </a:ext>
            </a:extLst>
          </p:cNvPr>
          <p:cNvSpPr txBox="1"/>
          <p:nvPr/>
        </p:nvSpPr>
        <p:spPr>
          <a:xfrm>
            <a:off x="762388" y="963262"/>
            <a:ext cx="107184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Existing methods for </a:t>
            </a:r>
            <a:r>
              <a:rPr lang="en-US" dirty="0" err="1"/>
              <a:t>Ayurvedic</a:t>
            </a:r>
            <a:r>
              <a:rPr lang="en-US" dirty="0"/>
              <a:t> diet prescription primarily involve manual, handwritten diet charts created by doctors in hospitals, based on patient consultations assessing </a:t>
            </a:r>
            <a:r>
              <a:rPr lang="en-US" dirty="0" err="1"/>
              <a:t>doshas</a:t>
            </a:r>
            <a:r>
              <a:rPr lang="en-US" dirty="0"/>
              <a:t>, tastes (Rasa), and food properties. Some digital nutrition apps exist for general tracking but rely on Western standards with basic calorie/macro </a:t>
            </a:r>
            <a:r>
              <a:rPr lang="en-US" dirty="0" smtClean="0"/>
              <a:t>logging.</a:t>
            </a:r>
          </a:p>
          <a:p>
            <a:endParaRPr lang="en-US" dirty="0"/>
          </a:p>
          <a:p>
            <a:r>
              <a:rPr lang="en-US" b="1" dirty="0"/>
              <a:t>Drawbacks of Existing </a:t>
            </a:r>
            <a:r>
              <a:rPr lang="en-US" b="1" dirty="0" smtClean="0"/>
              <a:t>Methods</a:t>
            </a:r>
          </a:p>
          <a:p>
            <a:endParaRPr lang="en-US" b="1" dirty="0"/>
          </a:p>
          <a:p>
            <a:r>
              <a:rPr lang="en-US" b="1" dirty="0"/>
              <a:t>Manual Inefficiencies</a:t>
            </a:r>
            <a:r>
              <a:rPr lang="en-US" dirty="0"/>
              <a:t>: Handwritten charts are time-consuming, prone to errors, hard to update or share, and lack automated nutrient calculations or </a:t>
            </a:r>
            <a:r>
              <a:rPr lang="en-US" dirty="0" smtClean="0"/>
              <a:t>standardization.</a:t>
            </a:r>
          </a:p>
          <a:p>
            <a:endParaRPr lang="en-US" dirty="0"/>
          </a:p>
          <a:p>
            <a:r>
              <a:rPr lang="en-US" b="1" dirty="0"/>
              <a:t>Limited </a:t>
            </a:r>
            <a:r>
              <a:rPr lang="en-US" b="1" dirty="0" err="1"/>
              <a:t>Ayurvedic</a:t>
            </a:r>
            <a:r>
              <a:rPr lang="en-US" b="1" dirty="0"/>
              <a:t> Integration</a:t>
            </a:r>
            <a:r>
              <a:rPr lang="en-US" dirty="0"/>
              <a:t>: Conventional software ignores </a:t>
            </a:r>
            <a:r>
              <a:rPr lang="en-US" dirty="0" err="1"/>
              <a:t>Ayurvedic</a:t>
            </a:r>
            <a:r>
              <a:rPr lang="en-US" dirty="0"/>
              <a:t> specifics like Hot/Cold properties, digestibility, six tastes, and </a:t>
            </a:r>
            <a:r>
              <a:rPr lang="en-US" dirty="0" err="1"/>
              <a:t>dosha</a:t>
            </a:r>
            <a:r>
              <a:rPr lang="en-US" dirty="0"/>
              <a:t> balancing, focusing only on </a:t>
            </a:r>
            <a:r>
              <a:rPr lang="en-US" dirty="0" smtClean="0"/>
              <a:t>macros/micros.</a:t>
            </a:r>
          </a:p>
          <a:p>
            <a:endParaRPr lang="en-US" dirty="0"/>
          </a:p>
          <a:p>
            <a:r>
              <a:rPr lang="en-US" b="1" dirty="0"/>
              <a:t>Cultural and Data Gaps</a:t>
            </a:r>
            <a:r>
              <a:rPr lang="en-US" dirty="0"/>
              <a:t>: Food databases overlook Indian/regional cuisines, leading to inaccurate analysis and irrelevant </a:t>
            </a:r>
            <a:r>
              <a:rPr lang="en-US" dirty="0" smtClean="0"/>
              <a:t>recommendations.</a:t>
            </a:r>
          </a:p>
          <a:p>
            <a:r>
              <a:rPr lang="en-US" dirty="0" smtClean="0"/>
              <a:t>​</a:t>
            </a:r>
            <a:endParaRPr lang="en-US" dirty="0"/>
          </a:p>
          <a:p>
            <a:r>
              <a:rPr lang="en-US" b="1" dirty="0"/>
              <a:t>Restrictiveness and Scalability Issues</a:t>
            </a:r>
            <a:r>
              <a:rPr lang="en-US" dirty="0"/>
              <a:t>: Plans feel overly complex or inflexible; no patient management, mobile access, or compliance features like HIPAA.</a:t>
            </a:r>
          </a:p>
          <a:p>
            <a:pPr>
              <a:buNone/>
            </a:pPr>
            <a:r>
              <a:rPr lang="en-US" dirty="0" smtClean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592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8974AE-D209-5E8C-C4B3-3BF42FBDE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 and Feasibility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728D1E1-901A-C693-54B8-3A63ECEB6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52500"/>
            <a:ext cx="10668000" cy="4953000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pPr marL="7620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/>
              <a:t>Dynamic food database </a:t>
            </a:r>
            <a:r>
              <a:rPr lang="en-US" sz="2000" dirty="0"/>
              <a:t>(8,000+ items) with dual-view panels showing nutritional data alongside Rasa, </a:t>
            </a:r>
            <a:r>
              <a:rPr lang="en-US" sz="2000" dirty="0" err="1"/>
              <a:t>Guna</a:t>
            </a:r>
            <a:r>
              <a:rPr lang="en-US" sz="2000" dirty="0"/>
              <a:t>, </a:t>
            </a:r>
            <a:r>
              <a:rPr lang="en-US" sz="2000" dirty="0" err="1"/>
              <a:t>Virya</a:t>
            </a:r>
            <a:r>
              <a:rPr lang="en-US" sz="2000" dirty="0"/>
              <a:t>, and </a:t>
            </a:r>
            <a:r>
              <a:rPr lang="en-US" sz="2000" dirty="0" err="1"/>
              <a:t>dosha</a:t>
            </a:r>
            <a:r>
              <a:rPr lang="en-US" sz="2000" dirty="0"/>
              <a:t> impact; drag-and-drop diet/recipe builder with real-time imbalance </a:t>
            </a:r>
            <a:r>
              <a:rPr lang="en-US" sz="2000" dirty="0" smtClean="0"/>
              <a:t>scoring.</a:t>
            </a:r>
          </a:p>
          <a:p>
            <a:endParaRPr lang="en-US" sz="2000" dirty="0"/>
          </a:p>
          <a:p>
            <a:r>
              <a:rPr lang="en-US" sz="2000" b="1" dirty="0"/>
              <a:t>Patient module for profiles </a:t>
            </a:r>
            <a:r>
              <a:rPr lang="en-US" sz="2000" dirty="0"/>
              <a:t>(age, gender, habits, vitals); automated chart generation, NLP/CV for logging intake/symptoms, and FHIR APIs for HIS/EHR </a:t>
            </a:r>
            <a:r>
              <a:rPr lang="en-US" sz="2000" dirty="0" smtClean="0"/>
              <a:t>integration.</a:t>
            </a:r>
          </a:p>
          <a:p>
            <a:endParaRPr lang="en-US" sz="2000" dirty="0"/>
          </a:p>
          <a:p>
            <a:r>
              <a:rPr lang="en-US" sz="2000" b="1" dirty="0"/>
              <a:t>Tech stack</a:t>
            </a:r>
            <a:r>
              <a:rPr lang="en-US" sz="2000" dirty="0"/>
              <a:t>: Flutter for cross-platform mobile/web apps, AWS/Azure/GCP cloud, AI for recommendations/parsing, HIPAA-compliant security, and BI dashboards for reports.</a:t>
            </a:r>
          </a:p>
          <a:p>
            <a:pPr marL="5588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088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95F4D85-41B0-799C-B7D3-B661EC699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FAD139-4FD2-BE3C-8485-C9EB056E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 and Feasibility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A0EC339-36F9-9828-3DB4-7FF6C60C2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840817"/>
            <a:ext cx="10668000" cy="4953000"/>
          </a:xfrm>
        </p:spPr>
        <p:txBody>
          <a:bodyPr>
            <a:noAutofit/>
          </a:bodyPr>
          <a:lstStyle/>
          <a:p>
            <a:pPr marL="762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  <a:p>
            <a:r>
              <a:rPr lang="en-US" sz="1600" b="1" dirty="0"/>
              <a:t>Technical Feasibility</a:t>
            </a:r>
          </a:p>
          <a:p>
            <a:r>
              <a:rPr lang="en-US" sz="1600" dirty="0"/>
              <a:t>Achievable with established tech: Flutter for mobile/web apps, AWS/Azure/GCP for scalable cloud hosting, AI/ML (RAG/NLP/CV) for recommendations and logging, FHIR APIs for integrations—proven in Ayurveda pilots like </a:t>
            </a:r>
            <a:r>
              <a:rPr lang="en-US" sz="1600" dirty="0" err="1"/>
              <a:t>Ayush</a:t>
            </a:r>
            <a:r>
              <a:rPr lang="en-US" sz="1600" dirty="0"/>
              <a:t> Grid and Smart Diet India, with MVP buildable in 3-6 months. Challenges like data accuracy are mitigated via proprietary feedback loops and classical text knowledge </a:t>
            </a:r>
            <a:r>
              <a:rPr lang="en-US" sz="1600" dirty="0" smtClean="0"/>
              <a:t>graphs.</a:t>
            </a:r>
            <a:endParaRPr lang="en-US" sz="1600" dirty="0"/>
          </a:p>
          <a:p>
            <a:r>
              <a:rPr lang="en-US" sz="1600" b="1" dirty="0"/>
              <a:t>Operational Feasibility</a:t>
            </a:r>
          </a:p>
          <a:p>
            <a:r>
              <a:rPr lang="en-US" sz="1600" dirty="0"/>
              <a:t>Aligns seamlessly with workflows via intuitive UX, mobile access, and practitioner feedback loops (e.g., beta with 10-15 dietitians); supports hospital scalability through multi-user scheduling and real-time analytics, as seen in platforms like </a:t>
            </a:r>
            <a:r>
              <a:rPr lang="en-US" sz="1600" dirty="0" err="1"/>
              <a:t>Ayurgrid</a:t>
            </a:r>
            <a:r>
              <a:rPr lang="en-US" sz="1600" dirty="0"/>
              <a:t>. Regulatory compliance (HIPAA/FHIR) and training needs are low due to familiar </a:t>
            </a:r>
            <a:r>
              <a:rPr lang="en-US" sz="1600" dirty="0" smtClean="0"/>
              <a:t>interfaces.</a:t>
            </a:r>
            <a:endParaRPr lang="en-US" sz="1600" dirty="0"/>
          </a:p>
          <a:p>
            <a:r>
              <a:rPr lang="en-US" sz="1600" b="1" dirty="0"/>
              <a:t>Economic Feasibility</a:t>
            </a:r>
          </a:p>
          <a:p>
            <a:r>
              <a:rPr lang="en-US" sz="1600" dirty="0"/>
              <a:t>Cost-effective: Cloud reduces hardware (~50% savings), phased rollout (Phase 1: $50K-100K for core portal) yields ROI via subscriptions/pilots; government support (Ministry of </a:t>
            </a:r>
            <a:r>
              <a:rPr lang="en-US" sz="1600" dirty="0" err="1"/>
              <a:t>Ayush</a:t>
            </a:r>
            <a:r>
              <a:rPr lang="en-US" sz="1600" dirty="0"/>
              <a:t> schemes) aids funding, with market growth in Ayurveda digital health (e.g., startups like </a:t>
            </a:r>
            <a:r>
              <a:rPr lang="en-US" sz="1600" dirty="0" err="1"/>
              <a:t>Patanjali</a:t>
            </a:r>
            <a:r>
              <a:rPr lang="en-US" sz="1600" dirty="0"/>
              <a:t>, </a:t>
            </a:r>
            <a:r>
              <a:rPr lang="en-US" sz="1600" dirty="0" err="1"/>
              <a:t>NirogStreet</a:t>
            </a:r>
            <a:r>
              <a:rPr lang="en-US" sz="1600" dirty="0"/>
              <a:t>). Break-even projected in 12-18 months post-launch.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477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1666CB-A08A-B71C-7A47-96C882F85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033669"/>
            <a:ext cx="5721626" cy="505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407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8F014C-4043-F3B6-3683-FFF78D0EB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8AAAA4F9-B269-7418-342B-6AB52F2D6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075404"/>
            <a:ext cx="10740128" cy="514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Core Modules</a:t>
            </a:r>
          </a:p>
          <a:p>
            <a:r>
              <a:rPr lang="en-US" sz="1400" b="1" dirty="0"/>
              <a:t>Practitioner Portal</a:t>
            </a:r>
            <a:r>
              <a:rPr lang="en-US" sz="1400" dirty="0"/>
              <a:t>: Web-based dashboard (Next.js/</a:t>
            </a:r>
            <a:r>
              <a:rPr lang="en-US" sz="1400" dirty="0" err="1"/>
              <a:t>NestJS</a:t>
            </a:r>
            <a:r>
              <a:rPr lang="en-US" sz="1400" dirty="0"/>
              <a:t>) for login, patient profile creation (age, gender, </a:t>
            </a:r>
            <a:r>
              <a:rPr lang="en-US" sz="1400" dirty="0" err="1"/>
              <a:t>dosha</a:t>
            </a:r>
            <a:r>
              <a:rPr lang="en-US" sz="1400" dirty="0"/>
              <a:t>, habits), drag-and-drop diet chart builder with real-time </a:t>
            </a:r>
            <a:r>
              <a:rPr lang="en-US" sz="1400" dirty="0" err="1"/>
              <a:t>dosha</a:t>
            </a:r>
            <a:r>
              <a:rPr lang="en-US" sz="1400" dirty="0"/>
              <a:t> scoring, recipe creation, and PDF </a:t>
            </a:r>
            <a:r>
              <a:rPr lang="en-US" sz="1400" dirty="0" smtClean="0"/>
              <a:t>exports.</a:t>
            </a:r>
            <a:endParaRPr lang="en-US" sz="1400" dirty="0"/>
          </a:p>
          <a:p>
            <a:r>
              <a:rPr lang="en-US" sz="1400" b="1" dirty="0"/>
              <a:t>Food Database Module</a:t>
            </a:r>
            <a:r>
              <a:rPr lang="en-US" sz="1400" dirty="0"/>
              <a:t>: 8,000+ items with dual panels—</a:t>
            </a:r>
            <a:r>
              <a:rPr lang="en-US" sz="1400" dirty="0" err="1"/>
              <a:t>Ayurvedic</a:t>
            </a:r>
            <a:r>
              <a:rPr lang="en-US" sz="1400" dirty="0"/>
              <a:t> properties (Rasa, </a:t>
            </a:r>
            <a:r>
              <a:rPr lang="en-US" sz="1400" dirty="0" err="1"/>
              <a:t>Guna</a:t>
            </a:r>
            <a:r>
              <a:rPr lang="en-US" sz="1400" dirty="0"/>
              <a:t>, </a:t>
            </a:r>
            <a:r>
              <a:rPr lang="en-US" sz="1400" dirty="0" err="1"/>
              <a:t>Virya</a:t>
            </a:r>
            <a:r>
              <a:rPr lang="en-US" sz="1400" dirty="0"/>
              <a:t>, Hot/Cold) mapped to nutritional data (calories, macros/micros) from INDB/IFCT </a:t>
            </a:r>
            <a:r>
              <a:rPr lang="en-US" sz="1400" dirty="0" smtClean="0"/>
              <a:t>sources.​</a:t>
            </a:r>
            <a:endParaRPr lang="en-US" sz="1400" dirty="0"/>
          </a:p>
          <a:p>
            <a:r>
              <a:rPr lang="en-US" sz="1400" b="1" dirty="0"/>
              <a:t>Patient Mobile App</a:t>
            </a:r>
            <a:r>
              <a:rPr lang="en-US" sz="1400" dirty="0"/>
              <a:t>: Flutter cross-platform app for meal logging (NLP voice/text, CV photo analysis), symptom tracking (energy, digestion, mood), reminders, and interactive </a:t>
            </a:r>
            <a:r>
              <a:rPr lang="en-US" sz="1400" dirty="0" smtClean="0"/>
              <a:t>plans.</a:t>
            </a:r>
          </a:p>
          <a:p>
            <a:endParaRPr lang="en-US" sz="1400" dirty="0"/>
          </a:p>
          <a:p>
            <a:r>
              <a:rPr lang="en-US" sz="1400" b="1" dirty="0"/>
              <a:t>Backend &amp; AI Modules</a:t>
            </a:r>
          </a:p>
          <a:p>
            <a:r>
              <a:rPr lang="en-US" sz="1400" b="1" dirty="0"/>
              <a:t>Patient Management</a:t>
            </a:r>
            <a:r>
              <a:rPr lang="en-US" sz="1400" dirty="0"/>
              <a:t>: Profiles with health metrics (bowel, water intake); FHIR APIs for HIS/EHR integration and multi-user </a:t>
            </a:r>
            <a:r>
              <a:rPr lang="en-US" sz="1400" dirty="0" smtClean="0"/>
              <a:t>scheduling.</a:t>
            </a:r>
            <a:endParaRPr lang="en-US" sz="1400" dirty="0"/>
          </a:p>
          <a:p>
            <a:r>
              <a:rPr lang="en-US" sz="1400" b="1" dirty="0"/>
              <a:t>AI Engine</a:t>
            </a:r>
            <a:r>
              <a:rPr lang="en-US" sz="1400" dirty="0"/>
              <a:t>: RAG/NLP/CV for recommendations, parsing logs, and predictive analytics from feedback loops; knowledge graph for </a:t>
            </a:r>
            <a:r>
              <a:rPr lang="en-US" sz="1400" dirty="0" err="1"/>
              <a:t>Ayurvedic</a:t>
            </a:r>
            <a:r>
              <a:rPr lang="en-US" sz="1400" dirty="0"/>
              <a:t>-modern data </a:t>
            </a:r>
            <a:r>
              <a:rPr lang="en-US" sz="1400" dirty="0" smtClean="0"/>
              <a:t>fusion.</a:t>
            </a:r>
            <a:endParaRPr lang="en-US" sz="1400" dirty="0"/>
          </a:p>
          <a:p>
            <a:r>
              <a:rPr lang="en-US" sz="1400" b="1" dirty="0"/>
              <a:t>Analytics &amp; Reporting</a:t>
            </a:r>
            <a:r>
              <a:rPr lang="en-US" sz="1400" dirty="0"/>
              <a:t>: BI dashboards, printable charts, and aggregated insights for </a:t>
            </a:r>
            <a:r>
              <a:rPr lang="en-US" sz="1400" dirty="0" smtClean="0"/>
              <a:t>practitioners.</a:t>
            </a:r>
          </a:p>
          <a:p>
            <a:r>
              <a:rPr lang="en-US" sz="1400" dirty="0" smtClean="0"/>
              <a:t>​</a:t>
            </a:r>
            <a:endParaRPr lang="en-US" sz="1400" dirty="0"/>
          </a:p>
          <a:p>
            <a:r>
              <a:rPr lang="en-US" sz="1400" b="1" dirty="0"/>
              <a:t>Infrastructure Modules</a:t>
            </a:r>
          </a:p>
          <a:p>
            <a:r>
              <a:rPr lang="en-US" sz="1400" b="1" dirty="0"/>
              <a:t>Security &amp; Compliance</a:t>
            </a:r>
            <a:r>
              <a:rPr lang="en-US" sz="1400" dirty="0"/>
              <a:t>: </a:t>
            </a:r>
            <a:r>
              <a:rPr lang="en-US" sz="1400" dirty="0" err="1"/>
              <a:t>OAuth</a:t>
            </a:r>
            <a:r>
              <a:rPr lang="en-US" sz="1400" dirty="0"/>
              <a:t>/JWT </a:t>
            </a:r>
            <a:r>
              <a:rPr lang="en-US" sz="1400" dirty="0" err="1"/>
              <a:t>auth</a:t>
            </a:r>
            <a:r>
              <a:rPr lang="en-US" sz="1400" dirty="0"/>
              <a:t>, HIPAA/GDPR encryption, audit </a:t>
            </a:r>
            <a:r>
              <a:rPr lang="en-US" sz="1400" dirty="0" smtClean="0"/>
              <a:t>logs.</a:t>
            </a:r>
            <a:endParaRPr lang="en-US" sz="1400" dirty="0"/>
          </a:p>
          <a:p>
            <a:r>
              <a:rPr lang="en-US" sz="1400" b="1" dirty="0"/>
              <a:t>Admin Module</a:t>
            </a:r>
            <a:r>
              <a:rPr lang="en-US" sz="1400" dirty="0"/>
              <a:t>: Data ingestion, user roles, and system monitoring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144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D2A1EEF-A6F0-1A23-6ED8-DD8D84F1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FF5763-18AE-A622-7512-0FF73FC2E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SDG Mapping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DFBDF762-96D4-E72A-060F-3B7F34C61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9071" y="3284594"/>
            <a:ext cx="10913857" cy="433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670855"/>
              </p:ext>
            </p:extLst>
          </p:nvPr>
        </p:nvGraphicFramePr>
        <p:xfrm>
          <a:off x="1186511" y="1367624"/>
          <a:ext cx="9881704" cy="4398087"/>
        </p:xfrm>
        <a:graphic>
          <a:graphicData uri="http://schemas.openxmlformats.org/drawingml/2006/table">
            <a:tbl>
              <a:tblPr/>
              <a:tblGrid>
                <a:gridCol w="3556000"/>
                <a:gridCol w="3556000"/>
                <a:gridCol w="2769704"/>
              </a:tblGrid>
              <a:tr h="394298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SDG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Goal Description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Project Alignment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531276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SDG 3: Good Health &amp; Well-being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Ensure healthy lives and promote well-being for all ages.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Enables precise, personalized </a:t>
                      </a:r>
                      <a:r>
                        <a:rPr lang="en-US" dirty="0" err="1">
                          <a:effectLst/>
                        </a:rPr>
                        <a:t>Ayurvedic</a:t>
                      </a:r>
                      <a:r>
                        <a:rPr lang="en-US" dirty="0">
                          <a:effectLst/>
                        </a:rPr>
                        <a:t> diet plans reducing lifestyle diseases via nutrient tracking, </a:t>
                      </a:r>
                      <a:r>
                        <a:rPr lang="en-US" dirty="0" err="1">
                          <a:effectLst/>
                        </a:rPr>
                        <a:t>dosha</a:t>
                      </a:r>
                      <a:r>
                        <a:rPr lang="en-US" dirty="0">
                          <a:effectLst/>
                        </a:rPr>
                        <a:t> balancing, and preventive care in </a:t>
                      </a:r>
                      <a:r>
                        <a:rPr lang="en-US" dirty="0" smtClean="0">
                          <a:effectLst/>
                        </a:rPr>
                        <a:t>hospitals.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8141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SDG 2: Zero Hunger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End hunger, achieve food security, and improved nutrition.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Supports nutritionally balanced, culturally relevant meal plans using local/seasonal foods, tailored for diverse age/gender </a:t>
                      </a:r>
                      <a:r>
                        <a:rPr lang="en-US" dirty="0" smtClean="0">
                          <a:effectLst/>
                        </a:rPr>
                        <a:t>groups.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4372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SDG 12: Responsible Consumption &amp; Production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Ensure sustainable consumption and production patterns.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Promotes </a:t>
                      </a:r>
                      <a:r>
                        <a:rPr lang="en-US" dirty="0" err="1">
                          <a:effectLst/>
                        </a:rPr>
                        <a:t>Ayurvedic</a:t>
                      </a:r>
                      <a:r>
                        <a:rPr lang="en-US" dirty="0">
                          <a:effectLst/>
                        </a:rPr>
                        <a:t> principles of mindful eating with minimal waste, organic/local sourcing, and recipe </a:t>
                      </a:r>
                      <a:r>
                        <a:rPr lang="en-US" dirty="0" smtClean="0">
                          <a:effectLst/>
                        </a:rPr>
                        <a:t>optimization.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738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8AB7A7-45E1-27A8-4265-A332A50DD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and Software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CACC4AA-A39A-086B-3765-9F2B5DF62FD6}"/>
              </a:ext>
            </a:extLst>
          </p:cNvPr>
          <p:cNvSpPr txBox="1"/>
          <p:nvPr/>
        </p:nvSpPr>
        <p:spPr>
          <a:xfrm>
            <a:off x="812800" y="1045586"/>
            <a:ext cx="105257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smtClean="0"/>
              <a:t>Hardware Requirements</a:t>
            </a:r>
          </a:p>
          <a:p>
            <a:endParaRPr lang="en-US" sz="1600" b="1" dirty="0"/>
          </a:p>
          <a:p>
            <a:r>
              <a:rPr lang="en-US" sz="1600" b="1" dirty="0"/>
              <a:t>Client-Side (Practitioner/Patient Devices)</a:t>
            </a:r>
            <a:r>
              <a:rPr lang="en-US" sz="1600" dirty="0"/>
              <a:t>: Standard laptops/desktops (Intel i5+ or equivalent, 8GB RAM, 256GB SSD) for web portals; smartphones/tablets (Android 10+ or </a:t>
            </a:r>
            <a:r>
              <a:rPr lang="en-US" sz="1600" dirty="0" err="1"/>
              <a:t>iOS</a:t>
            </a:r>
            <a:r>
              <a:rPr lang="en-US" sz="1600" dirty="0"/>
              <a:t> 14+, 4GB RAM) for mobile apps—no specialized hardware needed beyond cameras/microphones for AI logging.</a:t>
            </a:r>
          </a:p>
          <a:p>
            <a:r>
              <a:rPr lang="en-US" sz="1600" b="1" dirty="0"/>
              <a:t>Server-Side</a:t>
            </a:r>
            <a:r>
              <a:rPr lang="en-US" sz="1600" dirty="0"/>
              <a:t>: Cloud-hosted (AWS EC2 t3.medium instances or equivalents) with auto-scaling; optional on-premise servers (16GB RAM, 4-core CPU, 500GB SSD) for small </a:t>
            </a:r>
            <a:r>
              <a:rPr lang="en-US" sz="1600" dirty="0" smtClean="0"/>
              <a:t>clinics.</a:t>
            </a:r>
          </a:p>
          <a:p>
            <a:endParaRPr lang="en-US" sz="1600" dirty="0"/>
          </a:p>
          <a:p>
            <a:r>
              <a:rPr lang="en-US" sz="1600" b="1" dirty="0"/>
              <a:t>Software </a:t>
            </a:r>
            <a:r>
              <a:rPr lang="en-US" sz="1600" b="1" dirty="0" smtClean="0"/>
              <a:t>Requirements</a:t>
            </a:r>
          </a:p>
          <a:p>
            <a:endParaRPr lang="en-US" sz="1600" b="1" dirty="0"/>
          </a:p>
          <a:p>
            <a:r>
              <a:rPr lang="en-US" sz="1600" b="1" dirty="0"/>
              <a:t>Frontend</a:t>
            </a:r>
            <a:r>
              <a:rPr lang="en-US" sz="1600" dirty="0"/>
              <a:t>: Flutter (Dart) for cross-platform mobile apps; Next.js (React) for web dashboards with SSR/SSG for performance.</a:t>
            </a:r>
          </a:p>
          <a:p>
            <a:r>
              <a:rPr lang="en-US" sz="1600" b="1" dirty="0"/>
              <a:t>Backend</a:t>
            </a:r>
            <a:r>
              <a:rPr lang="en-US" sz="1600" dirty="0"/>
              <a:t>: </a:t>
            </a:r>
            <a:r>
              <a:rPr lang="en-US" sz="1600" dirty="0" err="1"/>
              <a:t>NestJS</a:t>
            </a:r>
            <a:r>
              <a:rPr lang="en-US" sz="1600" dirty="0"/>
              <a:t>/Node.js </a:t>
            </a:r>
            <a:r>
              <a:rPr lang="en-US" sz="1600" dirty="0" err="1"/>
              <a:t>microservices</a:t>
            </a:r>
            <a:r>
              <a:rPr lang="en-US" sz="1600" dirty="0"/>
              <a:t>; </a:t>
            </a:r>
            <a:r>
              <a:rPr lang="en-US" sz="1600" dirty="0" err="1"/>
              <a:t>PostgreSQL</a:t>
            </a:r>
            <a:r>
              <a:rPr lang="en-US" sz="1600" dirty="0"/>
              <a:t> for profiles/charts, Neo4j for knowledge graphs, </a:t>
            </a:r>
            <a:r>
              <a:rPr lang="en-US" sz="1600" dirty="0" err="1"/>
              <a:t>MongoDB</a:t>
            </a:r>
            <a:r>
              <a:rPr lang="en-US" sz="1600" dirty="0"/>
              <a:t> for logs.</a:t>
            </a:r>
          </a:p>
          <a:p>
            <a:r>
              <a:rPr lang="en-US" sz="1600" b="1" dirty="0"/>
              <a:t>AI/ML</a:t>
            </a:r>
            <a:r>
              <a:rPr lang="en-US" sz="1600" dirty="0"/>
              <a:t>: </a:t>
            </a:r>
            <a:r>
              <a:rPr lang="en-US" sz="1600" dirty="0" err="1"/>
              <a:t>TensorFlow</a:t>
            </a:r>
            <a:r>
              <a:rPr lang="en-US" sz="1600" dirty="0"/>
              <a:t>/</a:t>
            </a:r>
            <a:r>
              <a:rPr lang="en-US" sz="1600" dirty="0" err="1"/>
              <a:t>PyTorch</a:t>
            </a:r>
            <a:r>
              <a:rPr lang="en-US" sz="1600" dirty="0"/>
              <a:t> for NLP/CV/RAG engines; hosted on </a:t>
            </a:r>
            <a:r>
              <a:rPr lang="en-US" sz="1600" dirty="0" err="1"/>
              <a:t>SageMaker</a:t>
            </a:r>
            <a:r>
              <a:rPr lang="en-US" sz="1600" dirty="0"/>
              <a:t> or Vertex AI.</a:t>
            </a:r>
          </a:p>
          <a:p>
            <a:r>
              <a:rPr lang="en-US" sz="1600" b="1" dirty="0"/>
              <a:t>Infrastructure &amp; Tools</a:t>
            </a:r>
            <a:r>
              <a:rPr lang="en-US" sz="1600" dirty="0"/>
              <a:t>: </a:t>
            </a:r>
            <a:r>
              <a:rPr lang="en-US" sz="1600" dirty="0" err="1"/>
              <a:t>Docker</a:t>
            </a:r>
            <a:r>
              <a:rPr lang="en-US" sz="1600" dirty="0"/>
              <a:t>/</a:t>
            </a:r>
            <a:r>
              <a:rPr lang="en-US" sz="1600" dirty="0" err="1"/>
              <a:t>Kubernetes</a:t>
            </a:r>
            <a:r>
              <a:rPr lang="en-US" sz="1600" dirty="0"/>
              <a:t> orchestration, FHIR APIs, </a:t>
            </a:r>
            <a:r>
              <a:rPr lang="en-US" sz="1600" dirty="0" err="1"/>
              <a:t>OAuth</a:t>
            </a:r>
            <a:r>
              <a:rPr lang="en-US" sz="1600" dirty="0"/>
              <a:t>/JWT </a:t>
            </a:r>
            <a:r>
              <a:rPr lang="en-US" sz="1600" dirty="0" err="1"/>
              <a:t>auth</a:t>
            </a:r>
            <a:r>
              <a:rPr lang="en-US" sz="1600" dirty="0"/>
              <a:t>, HIPAA-compliant encryption; BI via Tableau integration.</a:t>
            </a:r>
          </a:p>
          <a:p>
            <a:endParaRPr lang="en-IN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93617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0F8694-88B2-7212-6E7F-62985ADB2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Timeline ( Gantt Chart 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724F5A3-AC22-51EE-A60A-337B2C512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666" y="1030685"/>
            <a:ext cx="9058667" cy="540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65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F80CC0-A9A3-D3DD-B1B6-CDD8793DF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Link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709D6D3-15F6-7FF4-0EA8-B567824CC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https://github.com/team-university-projects/emotionally-aware-conversational-companion</a:t>
            </a:r>
            <a:r>
              <a:rPr lang="en-US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311913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4E1D9E-18ED-0156-1A24-2D032C6C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C18F651-1F80-B3B8-1792-F7D8FAA6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52500"/>
            <a:ext cx="10488067" cy="5266816"/>
          </a:xfrm>
        </p:spPr>
        <p:txBody>
          <a:bodyPr>
            <a:normAutofit fontScale="92500" lnSpcReduction="10000"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Ekman and W. V. Friesen, “Facial action coding system: A technique for the measurement of facial movement,” </a:t>
            </a:r>
            <a:r>
              <a:rPr lang="x-none" altLang="x-none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Consulting Psychologists Press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1978.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Mollahosseini, D. Chan, and M. H. Mahoor, “Going deeper in facial expression recognition using deep neural networks,” </a:t>
            </a:r>
            <a:r>
              <a:rPr lang="x-none" altLang="x-none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IEEE Winter Conf. on Applications of Computer Vision (WACV)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pp. 1–10, 2016.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Schuller, S. Steidl, and A. Batliner, “The Interspeech 2009 emotion challenge,” </a:t>
            </a:r>
            <a:r>
              <a:rPr lang="x-none" altLang="x-none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Interspeech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pp. 312–315, 2009.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Poria, E. Cambria, D. Hazarika, and P. Vij, “Multimodal sentiment analysis: Addressing key issues and setting up baselines,” </a:t>
            </a:r>
            <a:r>
              <a:rPr lang="x-none" altLang="x-none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Intelligent Systems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33, no. 6, pp. 17–25, 2018.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 Brown </a:t>
            </a:r>
            <a:r>
              <a:rPr lang="x-none" altLang="x-none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“Language models are few-shot learners,” </a:t>
            </a:r>
            <a:r>
              <a:rPr lang="x-none" altLang="x-none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Neural Information Processing Systems (NeurIPS)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33, pp. 1877–1901, 2020.</a:t>
            </a:r>
            <a:endParaRPr lang="en-US" altLang="x-none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Zadeh, P. P. Liang, S. Poria, E. Cambria, and L.-P. Morency,</a:t>
            </a:r>
            <a:r>
              <a:rPr lang="en-US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“Multimodal language analysis in the wild: CMU-MOSEI dataset and benchmarks,”</a:t>
            </a:r>
            <a:r>
              <a:rPr lang="en-US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altLang="x-none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Annual Meeting of the Association for Computational Linguistics (ACL)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pp. 226–236, 2018.</a:t>
            </a:r>
            <a:endParaRPr lang="en-US" altLang="x-none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Hazarika, S. Poria, A. Zadeh, E. Cambria, R. Zimmermann, and R. Mihalcea,</a:t>
            </a:r>
            <a:r>
              <a:rPr lang="en-US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“MELD: A multimodal multi-party dataset for emotion recognition in conversations,”</a:t>
            </a:r>
            <a:r>
              <a:rPr lang="en-US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altLang="x-none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ACL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pp. 527–536, 2020.</a:t>
            </a:r>
            <a:endParaRPr lang="en-US" altLang="x-none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 Pepino, P. Riera, and L. Ferrer,</a:t>
            </a:r>
            <a:r>
              <a:rPr lang="en-US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“Emotion recognition from speech using Wav2Vec 2.0 embeddings,”</a:t>
            </a:r>
            <a:r>
              <a:rPr lang="en-US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altLang="x-none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Interspeech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pp. 3400–3404, 2021.</a:t>
            </a:r>
            <a:endParaRPr lang="en-US" altLang="x-none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Mollahosseini, B. Hasani, and M. H. Mahoor,</a:t>
            </a:r>
            <a:r>
              <a:rPr lang="en-US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“AffectNet: A database for facial expression, valence, and arousal,”</a:t>
            </a:r>
            <a:r>
              <a:rPr lang="en-US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altLang="x-none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Affective Computing</a:t>
            </a:r>
            <a:r>
              <a:rPr lang="x-none" altLang="x-none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10, no. 1, pp. 18–31, 2019.</a:t>
            </a:r>
            <a:endParaRPr lang="en-US" altLang="x-none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Zhou, Z. Wang, C. Zhang, and X. Chen, “Emotion-aware chatbot using attention-based neural networks,”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pp. 86673–86684, 2019.</a:t>
            </a:r>
            <a:endParaRPr lang="en-US" altLang="x-none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x-none" altLang="x-none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998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2024</Words>
  <Application>Microsoft Office PowerPoint</Application>
  <PresentationFormat>Custom</PresentationFormat>
  <Paragraphs>164</Paragraphs>
  <Slides>17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Bioinformatics</vt:lpstr>
      <vt:lpstr>Comprehensive Cloud-Based Practice Management &amp; Nutrient Analysis Software for Ayurvedic Dietitians, Tailored for Ayurveda-Focused Diet Plans</vt:lpstr>
      <vt:lpstr>Problem Statement Number: SIH25024</vt:lpstr>
      <vt:lpstr>Abstract</vt:lpstr>
      <vt:lpstr>Literature Review</vt:lpstr>
      <vt:lpstr>Literature Review</vt:lpstr>
      <vt:lpstr>Objectives</vt:lpstr>
      <vt:lpstr>Existing Methods and Drawbacks</vt:lpstr>
      <vt:lpstr>Proposed Method and Feasibility Study</vt:lpstr>
      <vt:lpstr>Proposed Method and Feasibility Study</vt:lpstr>
      <vt:lpstr>Architecture Diagram</vt:lpstr>
      <vt:lpstr>Modules</vt:lpstr>
      <vt:lpstr>SDG Mapping</vt:lpstr>
      <vt:lpstr>Hardware and Software Details</vt:lpstr>
      <vt:lpstr>Timeline ( Gantt Chart )</vt:lpstr>
      <vt:lpstr>Github Link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PRAYAS</cp:lastModifiedBy>
  <cp:revision>100</cp:revision>
  <dcterms:modified xsi:type="dcterms:W3CDTF">2026-02-03T04:38:37Z</dcterms:modified>
</cp:coreProperties>
</file>