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69" r:id="rId3"/>
    <p:sldId id="275" r:id="rId4"/>
    <p:sldId id="276" r:id="rId5"/>
    <p:sldId id="277" r:id="rId6"/>
    <p:sldId id="278" r:id="rId7"/>
    <p:sldId id="273" r:id="rId8"/>
    <p:sldId id="281" r:id="rId9"/>
    <p:sldId id="279" r:id="rId10"/>
    <p:sldId id="280" r:id="rId11"/>
    <p:sldId id="268" r:id="rId12"/>
    <p:sldId id="270"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62AB67-E107-9A16-2377-65DC3EE5AD6D}" v="150" dt="2026-01-13T07:46:36.778"/>
    <p1510:client id="{5E785EDB-E635-21A0-F482-A686816151FF}" v="407" dt="2026-01-12T18:08:13.757"/>
    <p1510:client id="{5F05A717-90A0-7B3E-860F-FDC9FFCBC7EA}" v="384" dt="2026-01-13T05:55:12.346"/>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0962AB67-E107-9A16-2377-65DC3EE5AD6D}"/>
    <pc:docChg chg="modSld">
      <pc:chgData name="Guest User" userId="" providerId="Windows Live" clId="Web-{0962AB67-E107-9A16-2377-65DC3EE5AD6D}" dt="2026-01-13T07:46:35.637" v="107" actId="20577"/>
      <pc:docMkLst>
        <pc:docMk/>
      </pc:docMkLst>
      <pc:sldChg chg="modSp">
        <pc:chgData name="Guest User" userId="" providerId="Windows Live" clId="Web-{0962AB67-E107-9A16-2377-65DC3EE5AD6D}" dt="2026-01-13T07:45:50.899" v="93" actId="20577"/>
        <pc:sldMkLst>
          <pc:docMk/>
          <pc:sldMk cId="0" sldId="265"/>
        </pc:sldMkLst>
        <pc:spChg chg="mod">
          <ac:chgData name="Guest User" userId="" providerId="Windows Live" clId="Web-{0962AB67-E107-9A16-2377-65DC3EE5AD6D}" dt="2026-01-13T07:45:50.899" v="93" actId="20577"/>
          <ac:spMkLst>
            <pc:docMk/>
            <pc:sldMk cId="0" sldId="265"/>
            <ac:spMk id="3" creationId="{2B65DBCC-369A-457D-011A-39DC57F2CFF7}"/>
          </ac:spMkLst>
        </pc:spChg>
      </pc:sldChg>
      <pc:sldChg chg="addSp modSp">
        <pc:chgData name="Guest User" userId="" providerId="Windows Live" clId="Web-{0962AB67-E107-9A16-2377-65DC3EE5AD6D}" dt="2026-01-13T07:36:47.391" v="9" actId="1076"/>
        <pc:sldMkLst>
          <pc:docMk/>
          <pc:sldMk cId="479890276" sldId="270"/>
        </pc:sldMkLst>
        <pc:picChg chg="add mod modCrop">
          <ac:chgData name="Guest User" userId="" providerId="Windows Live" clId="Web-{0962AB67-E107-9A16-2377-65DC3EE5AD6D}" dt="2026-01-13T07:36:47.391" v="9" actId="1076"/>
          <ac:picMkLst>
            <pc:docMk/>
            <pc:sldMk cId="479890276" sldId="270"/>
            <ac:picMk id="2" creationId="{50EE07F5-D472-BD47-B1AF-FC086E587D7F}"/>
          </ac:picMkLst>
        </pc:picChg>
      </pc:sldChg>
      <pc:sldChg chg="modSp">
        <pc:chgData name="Guest User" userId="" providerId="Windows Live" clId="Web-{0962AB67-E107-9A16-2377-65DC3EE5AD6D}" dt="2026-01-13T07:46:35.637" v="107" actId="20577"/>
        <pc:sldMkLst>
          <pc:docMk/>
          <pc:sldMk cId="2235139153" sldId="280"/>
        </pc:sldMkLst>
        <pc:spChg chg="mod">
          <ac:chgData name="Guest User" userId="" providerId="Windows Live" clId="Web-{0962AB67-E107-9A16-2377-65DC3EE5AD6D}" dt="2026-01-13T07:46:35.637" v="107" actId="20577"/>
          <ac:spMkLst>
            <pc:docMk/>
            <pc:sldMk cId="2235139153" sldId="280"/>
            <ac:spMk id="6" creationId="{91E89637-A750-E7F9-7CF6-A8065DF58228}"/>
          </ac:spMkLst>
        </pc:spChg>
      </pc:sldChg>
    </pc:docChg>
  </pc:docChgLst>
  <pc:docChgLst>
    <pc:chgData name="Guest User" providerId="Windows Live" clId="Web-{5E785EDB-E635-21A0-F482-A686816151FF}"/>
    <pc:docChg chg="modSld">
      <pc:chgData name="Guest User" userId="" providerId="Windows Live" clId="Web-{5E785EDB-E635-21A0-F482-A686816151FF}" dt="2026-01-12T18:08:13.757" v="314" actId="20577"/>
      <pc:docMkLst>
        <pc:docMk/>
      </pc:docMkLst>
      <pc:sldChg chg="addSp delSp modSp">
        <pc:chgData name="Guest User" userId="" providerId="Windows Live" clId="Web-{5E785EDB-E635-21A0-F482-A686816151FF}" dt="2026-01-12T18:05:35.677" v="286" actId="20577"/>
        <pc:sldMkLst>
          <pc:docMk/>
          <pc:sldMk cId="2856357337" sldId="268"/>
        </pc:sldMkLst>
        <pc:spChg chg="add mod">
          <ac:chgData name="Guest User" userId="" providerId="Windows Live" clId="Web-{5E785EDB-E635-21A0-F482-A686816151FF}" dt="2026-01-12T18:05:35.677" v="286" actId="20577"/>
          <ac:spMkLst>
            <pc:docMk/>
            <pc:sldMk cId="2856357337" sldId="268"/>
            <ac:spMk id="3" creationId="{D0A55473-736C-8060-CFB6-C0DC0D8D96AE}"/>
          </ac:spMkLst>
        </pc:spChg>
        <pc:spChg chg="del">
          <ac:chgData name="Guest User" userId="" providerId="Windows Live" clId="Web-{5E785EDB-E635-21A0-F482-A686816151FF}" dt="2026-01-12T17:53:16.251" v="263"/>
          <ac:spMkLst>
            <pc:docMk/>
            <pc:sldMk cId="2856357337" sldId="268"/>
            <ac:spMk id="4" creationId="{00000000-0000-0000-0000-000000000000}"/>
          </ac:spMkLst>
        </pc:spChg>
        <pc:spChg chg="del">
          <ac:chgData name="Guest User" userId="" providerId="Windows Live" clId="Web-{5E785EDB-E635-21A0-F482-A686816151FF}" dt="2026-01-12T17:53:16.251" v="262"/>
          <ac:spMkLst>
            <pc:docMk/>
            <pc:sldMk cId="2856357337" sldId="268"/>
            <ac:spMk id="5" creationId="{00000000-0000-0000-0000-000000000000}"/>
          </ac:spMkLst>
        </pc:spChg>
        <pc:spChg chg="del">
          <ac:chgData name="Guest User" userId="" providerId="Windows Live" clId="Web-{5E785EDB-E635-21A0-F482-A686816151FF}" dt="2026-01-12T17:53:16.297" v="264"/>
          <ac:spMkLst>
            <pc:docMk/>
            <pc:sldMk cId="2856357337" sldId="268"/>
            <ac:spMk id="115" creationId="{00000000-0000-0000-0000-000000000000}"/>
          </ac:spMkLst>
        </pc:spChg>
      </pc:sldChg>
      <pc:sldChg chg="modSp">
        <pc:chgData name="Guest User" userId="" providerId="Windows Live" clId="Web-{5E785EDB-E635-21A0-F482-A686816151FF}" dt="2026-01-12T18:07:33.960" v="310" actId="20577"/>
        <pc:sldMkLst>
          <pc:docMk/>
          <pc:sldMk cId="1030816154" sldId="273"/>
        </pc:sldMkLst>
        <pc:spChg chg="mod">
          <ac:chgData name="Guest User" userId="" providerId="Windows Live" clId="Web-{5E785EDB-E635-21A0-F482-A686816151FF}" dt="2026-01-12T18:07:33.960" v="310" actId="20577"/>
          <ac:spMkLst>
            <pc:docMk/>
            <pc:sldMk cId="1030816154" sldId="273"/>
            <ac:spMk id="3" creationId="{167D5502-A6B6-8DCB-9341-036DAD6E311D}"/>
          </ac:spMkLst>
        </pc:spChg>
      </pc:sldChg>
      <pc:sldChg chg="addSp delSp modSp">
        <pc:chgData name="Guest User" userId="" providerId="Windows Live" clId="Web-{5E785EDB-E635-21A0-F482-A686816151FF}" dt="2026-01-12T17:43:55.352" v="196" actId="1076"/>
        <pc:sldMkLst>
          <pc:docMk/>
          <pc:sldMk cId="3936898791" sldId="279"/>
        </pc:sldMkLst>
        <pc:picChg chg="add del mod">
          <ac:chgData name="Guest User" userId="" providerId="Windows Live" clId="Web-{5E785EDB-E635-21A0-F482-A686816151FF}" dt="2026-01-12T17:41:59.443" v="193"/>
          <ac:picMkLst>
            <pc:docMk/>
            <pc:sldMk cId="3936898791" sldId="279"/>
            <ac:picMk id="2" creationId="{769120EE-2A09-E0CF-0C1B-316E0F7BC33E}"/>
          </ac:picMkLst>
        </pc:picChg>
        <pc:picChg chg="add mod">
          <ac:chgData name="Guest User" userId="" providerId="Windows Live" clId="Web-{5E785EDB-E635-21A0-F482-A686816151FF}" dt="2026-01-12T17:43:55.352" v="196" actId="1076"/>
          <ac:picMkLst>
            <pc:docMk/>
            <pc:sldMk cId="3936898791" sldId="279"/>
            <ac:picMk id="3" creationId="{2A276FF1-CE77-3259-D2DD-E7F9BCF6ADA6}"/>
          </ac:picMkLst>
        </pc:picChg>
      </pc:sldChg>
      <pc:sldChg chg="modSp">
        <pc:chgData name="Guest User" userId="" providerId="Windows Live" clId="Web-{5E785EDB-E635-21A0-F482-A686816151FF}" dt="2026-01-12T17:52:25.936" v="261" actId="20577"/>
        <pc:sldMkLst>
          <pc:docMk/>
          <pc:sldMk cId="2235139153" sldId="280"/>
        </pc:sldMkLst>
        <pc:spChg chg="mod">
          <ac:chgData name="Guest User" userId="" providerId="Windows Live" clId="Web-{5E785EDB-E635-21A0-F482-A686816151FF}" dt="2026-01-12T17:52:25.936" v="261" actId="20577"/>
          <ac:spMkLst>
            <pc:docMk/>
            <pc:sldMk cId="2235139153" sldId="280"/>
            <ac:spMk id="6" creationId="{91E89637-A750-E7F9-7CF6-A8065DF58228}"/>
          </ac:spMkLst>
        </pc:spChg>
      </pc:sldChg>
      <pc:sldChg chg="modSp">
        <pc:chgData name="Guest User" userId="" providerId="Windows Live" clId="Web-{5E785EDB-E635-21A0-F482-A686816151FF}" dt="2026-01-12T18:08:13.757" v="314" actId="20577"/>
        <pc:sldMkLst>
          <pc:docMk/>
          <pc:sldMk cId="2132571433" sldId="281"/>
        </pc:sldMkLst>
        <pc:spChg chg="mod">
          <ac:chgData name="Guest User" userId="" providerId="Windows Live" clId="Web-{5E785EDB-E635-21A0-F482-A686816151FF}" dt="2026-01-12T18:08:13.757" v="314" actId="20577"/>
          <ac:spMkLst>
            <pc:docMk/>
            <pc:sldMk cId="2132571433" sldId="281"/>
            <ac:spMk id="3" creationId="{5069AE3E-C861-26D6-B898-9202397F5D36}"/>
          </ac:spMkLst>
        </pc:spChg>
      </pc:sldChg>
    </pc:docChg>
  </pc:docChgLst>
  <pc:docChgLst>
    <pc:chgData name="Guest User" providerId="Windows Live" clId="Web-{5F05A717-90A0-7B3E-860F-FDC9FFCBC7EA}"/>
    <pc:docChg chg="modSld">
      <pc:chgData name="Guest User" userId="" providerId="Windows Live" clId="Web-{5F05A717-90A0-7B3E-860F-FDC9FFCBC7EA}" dt="2026-01-13T05:55:12.346" v="388" actId="20577"/>
      <pc:docMkLst>
        <pc:docMk/>
      </pc:docMkLst>
      <pc:sldChg chg="modSp">
        <pc:chgData name="Guest User" userId="" providerId="Windows Live" clId="Web-{5F05A717-90A0-7B3E-860F-FDC9FFCBC7EA}" dt="2026-01-13T05:11:44.512" v="287" actId="20577"/>
        <pc:sldMkLst>
          <pc:docMk/>
          <pc:sldMk cId="0" sldId="256"/>
        </pc:sldMkLst>
        <pc:spChg chg="mod">
          <ac:chgData name="Guest User" userId="" providerId="Windows Live" clId="Web-{5F05A717-90A0-7B3E-860F-FDC9FFCBC7EA}" dt="2026-01-13T05:11:44.512" v="287" actId="20577"/>
          <ac:spMkLst>
            <pc:docMk/>
            <pc:sldMk cId="0" sldId="256"/>
            <ac:spMk id="87" creationId="{00000000-0000-0000-0000-000000000000}"/>
          </ac:spMkLst>
        </pc:spChg>
        <pc:spChg chg="mod">
          <ac:chgData name="Guest User" userId="" providerId="Windows Live" clId="Web-{5F05A717-90A0-7B3E-860F-FDC9FFCBC7EA}" dt="2026-01-13T05:05:48.059" v="125" actId="20577"/>
          <ac:spMkLst>
            <pc:docMk/>
            <pc:sldMk cId="0" sldId="256"/>
            <ac:spMk id="88" creationId="{00000000-0000-0000-0000-000000000000}"/>
          </ac:spMkLst>
        </pc:spChg>
        <pc:spChg chg="mod">
          <ac:chgData name="Guest User" userId="" providerId="Windows Live" clId="Web-{5F05A717-90A0-7B3E-860F-FDC9FFCBC7EA}" dt="2026-01-13T05:08:49.903" v="148" actId="20577"/>
          <ac:spMkLst>
            <pc:docMk/>
            <pc:sldMk cId="0" sldId="256"/>
            <ac:spMk id="90" creationId="{00000000-0000-0000-0000-000000000000}"/>
          </ac:spMkLst>
        </pc:spChg>
        <pc:graphicFrameChg chg="mod modGraphic">
          <ac:chgData name="Guest User" userId="" providerId="Windows Live" clId="Web-{5F05A717-90A0-7B3E-860F-FDC9FFCBC7EA}" dt="2026-01-13T05:05:39.621" v="123"/>
          <ac:graphicFrameMkLst>
            <pc:docMk/>
            <pc:sldMk cId="0" sldId="256"/>
            <ac:graphicFrameMk id="89" creationId="{00000000-0000-0000-0000-000000000000}"/>
          </ac:graphicFrameMkLst>
        </pc:graphicFrameChg>
      </pc:sldChg>
      <pc:sldChg chg="modSp">
        <pc:chgData name="Guest User" userId="" providerId="Windows Live" clId="Web-{5F05A717-90A0-7B3E-860F-FDC9FFCBC7EA}" dt="2026-01-13T05:20:11.497" v="304" actId="20577"/>
        <pc:sldMkLst>
          <pc:docMk/>
          <pc:sldMk cId="2143451837" sldId="269"/>
        </pc:sldMkLst>
        <pc:spChg chg="mod">
          <ac:chgData name="Guest User" userId="" providerId="Windows Live" clId="Web-{5F05A717-90A0-7B3E-860F-FDC9FFCBC7EA}" dt="2026-01-13T05:12:24.278" v="291" actId="20577"/>
          <ac:spMkLst>
            <pc:docMk/>
            <pc:sldMk cId="2143451837" sldId="269"/>
            <ac:spMk id="96" creationId="{00000000-0000-0000-0000-000000000000}"/>
          </ac:spMkLst>
        </pc:spChg>
        <pc:spChg chg="mod">
          <ac:chgData name="Guest User" userId="" providerId="Windows Live" clId="Web-{5F05A717-90A0-7B3E-860F-FDC9FFCBC7EA}" dt="2026-01-13T05:20:11.497" v="304" actId="20577"/>
          <ac:spMkLst>
            <pc:docMk/>
            <pc:sldMk cId="2143451837" sldId="269"/>
            <ac:spMk id="97" creationId="{00000000-0000-0000-0000-000000000000}"/>
          </ac:spMkLst>
        </pc:spChg>
      </pc:sldChg>
      <pc:sldChg chg="modSp">
        <pc:chgData name="Guest User" userId="" providerId="Windows Live" clId="Web-{5F05A717-90A0-7B3E-860F-FDC9FFCBC7EA}" dt="2026-01-13T05:40:20.210" v="310" actId="20577"/>
        <pc:sldMkLst>
          <pc:docMk/>
          <pc:sldMk cId="688384249" sldId="275"/>
        </pc:sldMkLst>
        <pc:spChg chg="mod">
          <ac:chgData name="Guest User" userId="" providerId="Windows Live" clId="Web-{5F05A717-90A0-7B3E-860F-FDC9FFCBC7EA}" dt="2026-01-13T05:40:20.210" v="310" actId="20577"/>
          <ac:spMkLst>
            <pc:docMk/>
            <pc:sldMk cId="688384249" sldId="275"/>
            <ac:spMk id="6" creationId="{5CFFCF49-AD54-31D5-5071-96000CCE4671}"/>
          </ac:spMkLst>
        </pc:spChg>
      </pc:sldChg>
      <pc:sldChg chg="modSp">
        <pc:chgData name="Guest User" userId="" providerId="Windows Live" clId="Web-{5F05A717-90A0-7B3E-860F-FDC9FFCBC7EA}" dt="2026-01-13T05:50:00.688" v="350" actId="14100"/>
        <pc:sldMkLst>
          <pc:docMk/>
          <pc:sldMk cId="401921524" sldId="276"/>
        </pc:sldMkLst>
        <pc:spChg chg="mod">
          <ac:chgData name="Guest User" userId="" providerId="Windows Live" clId="Web-{5F05A717-90A0-7B3E-860F-FDC9FFCBC7EA}" dt="2026-01-13T05:50:00.688" v="350" actId="14100"/>
          <ac:spMkLst>
            <pc:docMk/>
            <pc:sldMk cId="401921524" sldId="276"/>
            <ac:spMk id="3" creationId="{304C186F-316D-C34F-B1BF-D22E7F15315C}"/>
          </ac:spMkLst>
        </pc:spChg>
      </pc:sldChg>
      <pc:sldChg chg="modSp">
        <pc:chgData name="Guest User" userId="" providerId="Windows Live" clId="Web-{5F05A717-90A0-7B3E-860F-FDC9FFCBC7EA}" dt="2026-01-13T05:49:43.126" v="349" actId="20577"/>
        <pc:sldMkLst>
          <pc:docMk/>
          <pc:sldMk cId="935610056" sldId="277"/>
        </pc:sldMkLst>
        <pc:spChg chg="mod">
          <ac:chgData name="Guest User" userId="" providerId="Windows Live" clId="Web-{5F05A717-90A0-7B3E-860F-FDC9FFCBC7EA}" dt="2026-01-13T05:49:43.126" v="349" actId="20577"/>
          <ac:spMkLst>
            <pc:docMk/>
            <pc:sldMk cId="935610056" sldId="277"/>
            <ac:spMk id="3" creationId="{73D45FE6-158F-E509-F4A6-67CB505E26E2}"/>
          </ac:spMkLst>
        </pc:spChg>
      </pc:sldChg>
      <pc:sldChg chg="modSp">
        <pc:chgData name="Guest User" userId="" providerId="Windows Live" clId="Web-{5F05A717-90A0-7B3E-860F-FDC9FFCBC7EA}" dt="2026-01-13T05:55:12.346" v="388" actId="20577"/>
        <pc:sldMkLst>
          <pc:docMk/>
          <pc:sldMk cId="1856095445" sldId="278"/>
        </pc:sldMkLst>
        <pc:spChg chg="mod">
          <ac:chgData name="Guest User" userId="" providerId="Windows Live" clId="Web-{5F05A717-90A0-7B3E-860F-FDC9FFCBC7EA}" dt="2026-01-13T05:55:12.346" v="388" actId="20577"/>
          <ac:spMkLst>
            <pc:docMk/>
            <pc:sldMk cId="1856095445" sldId="278"/>
            <ac:spMk id="3" creationId="{3165C9E2-8823-FB57-C4A8-BA195C7F5AE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LID4096"/>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LID4096"/>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LID4096"/>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LID4096"/>
          </a:p>
        </p:txBody>
      </p:sp>
    </p:spTree>
    <p:extLst>
      <p:ext uri="{BB962C8B-B14F-4D97-AF65-F5344CB8AC3E}">
        <p14:creationId xmlns:p14="http://schemas.microsoft.com/office/powerpoint/2010/main" val="324830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LID4096"/>
          </a:p>
        </p:txBody>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LID4096"/>
          </a:p>
        </p:txBody>
      </p:sp>
    </p:spTree>
    <p:extLst>
      <p:ext uri="{BB962C8B-B14F-4D97-AF65-F5344CB8AC3E}">
        <p14:creationId xmlns:p14="http://schemas.microsoft.com/office/powerpoint/2010/main" val="2215593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LID4096"/>
          </a:p>
        </p:txBody>
      </p:sp>
    </p:spTree>
    <p:extLst>
      <p:ext uri="{BB962C8B-B14F-4D97-AF65-F5344CB8AC3E}">
        <p14:creationId xmlns:p14="http://schemas.microsoft.com/office/powerpoint/2010/main" val="281243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LID4096"/>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LID4096"/>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284759" cy="839634"/>
          </a:xfrm>
          <a:prstGeom prst="rect">
            <a:avLst/>
          </a:prstGeom>
          <a:noFill/>
          <a:ln>
            <a:noFill/>
          </a:ln>
        </p:spPr>
        <p:txBody>
          <a:bodyPr spcFirstLastPara="1" wrap="square" lIns="91425" tIns="45700" rIns="91425" bIns="45700" anchor="ctr" anchorCtr="0">
            <a:noAutofit/>
          </a:bodyPr>
          <a:lstStyle/>
          <a:p>
            <a:pPr algn="ctr"/>
            <a:r>
              <a:rPr lang="en-US" dirty="0">
                <a:solidFill>
                  <a:schemeClr val="bg2"/>
                </a:solidFill>
                <a:latin typeface="Times New Roman"/>
                <a:ea typeface="Cambria"/>
                <a:cs typeface="Times New Roman"/>
              </a:rPr>
              <a:t>Comprehensive Cloud-based practice  management  and nutrient analysis software for Ayurvedic Dietitians, Tailored for Ayurveda-Focused Diet Plans </a:t>
            </a:r>
            <a:endParaRPr dirty="0">
              <a:solidFill>
                <a:schemeClr val="bg2"/>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a:ea typeface="Cambria"/>
              </a:rPr>
              <a:t>Batch Number: CSE_191</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a:ea typeface="Cambria"/>
                <a:cs typeface="Verdana"/>
                <a:sym typeface="Verdana"/>
              </a:rPr>
              <a:t>Under the Supervision of,</a:t>
            </a:r>
          </a:p>
          <a:p>
            <a:pPr marL="0" marR="0" lvl="0" indent="0" algn="ctr" rtl="0">
              <a:spcBef>
                <a:spcPts val="0"/>
              </a:spcBef>
              <a:spcAft>
                <a:spcPts val="0"/>
              </a:spcAft>
              <a:buClr>
                <a:srgbClr val="17365D"/>
              </a:buClr>
              <a:buSzPts val="2000"/>
              <a:buFont typeface="Arial"/>
              <a:buNone/>
            </a:pPr>
            <a:endParaRPr lang="en-GB" sz="1800" b="1">
              <a:solidFill>
                <a:srgbClr val="17365D"/>
              </a:solidFill>
              <a:latin typeface="Cambria" panose="02040503050406030204" pitchFamily="18" charset="0"/>
              <a:ea typeface="Cambria" panose="02040503050406030204" pitchFamily="18" charset="0"/>
              <a:cs typeface="Verdana"/>
              <a:sym typeface="Verdana"/>
            </a:endParaRPr>
          </a:p>
          <a:p>
            <a:pPr>
              <a:buClr>
                <a:srgbClr val="17365D"/>
              </a:buClr>
              <a:buSzPts val="2000"/>
            </a:pPr>
            <a:r>
              <a:rPr lang="en-GB" sz="1800" b="1" dirty="0">
                <a:solidFill>
                  <a:srgbClr val="17365D"/>
                </a:solidFill>
                <a:latin typeface="Cambria"/>
                <a:ea typeface="Cambria"/>
                <a:cs typeface="Verdana"/>
                <a:sym typeface="Verdana"/>
              </a:rPr>
              <a:t>Mr. Arunkumar K Bhavikatti</a:t>
            </a:r>
            <a:endParaRPr lang="en-GB" sz="1800" b="1" i="0" u="none" strike="noStrike" cap="none" dirty="0">
              <a:solidFill>
                <a:srgbClr val="17365D"/>
              </a:solidFill>
              <a:latin typeface="Cambria"/>
              <a:ea typeface="Cambria"/>
              <a:cs typeface="Verdana"/>
            </a:endParaRPr>
          </a:p>
          <a:p>
            <a:pPr marL="0" marR="0" lvl="0" indent="0" rtl="0">
              <a:spcBef>
                <a:spcPts val="0"/>
              </a:spcBef>
              <a:spcAft>
                <a:spcPts val="0"/>
              </a:spcAft>
              <a:buClr>
                <a:srgbClr val="17365D"/>
              </a:buClr>
              <a:buSzPts val="2000"/>
              <a:buFont typeface="Arial"/>
              <a:buNone/>
            </a:pPr>
            <a:endPar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ts val="2000"/>
              <a:buFont typeface="Arial"/>
              <a:buNone/>
            </a:pPr>
            <a:r>
              <a:rPr lang="en-GB" sz="1800" b="1" dirty="0">
                <a:solidFill>
                  <a:srgbClr val="17365D"/>
                </a:solidFill>
                <a:latin typeface="Cambria"/>
                <a:ea typeface="Cambria"/>
                <a:cs typeface="Verdana"/>
                <a:sym typeface="Verdana"/>
              </a:rPr>
              <a:t>Assistant Professor</a:t>
            </a:r>
            <a:endParaRPr lang="en-GB" sz="1800" b="1" i="0" u="none" strike="noStrike" cap="none" dirty="0">
              <a:solidFill>
                <a:srgbClr val="17365D"/>
              </a:solidFill>
              <a:latin typeface="Cambria"/>
              <a:ea typeface="Cambria"/>
              <a:cs typeface="Verdana"/>
            </a:endParaRPr>
          </a:p>
          <a:p>
            <a:pPr marL="0" marR="0" lvl="0" indent="0" rtl="0">
              <a:spcBef>
                <a:spcPts val="0"/>
              </a:spcBef>
              <a:spcAft>
                <a:spcPts val="0"/>
              </a:spcAft>
              <a:buClr>
                <a:srgbClr val="17365D"/>
              </a:buClr>
              <a:buSzPts val="2000"/>
              <a:buFont typeface="Arial"/>
              <a:buNone/>
            </a:pPr>
            <a:r>
              <a:rPr lang="en-GB" sz="1700" b="1" i="0" u="none" strike="noStrike" cap="none" dirty="0">
                <a:solidFill>
                  <a:srgbClr val="17365D"/>
                </a:solidFill>
                <a:latin typeface="Cambria"/>
                <a:ea typeface="Cambria"/>
                <a:cs typeface="Verdana"/>
                <a:sym typeface="Verdana"/>
              </a:rPr>
              <a:t>School of Computer Science and Engineering</a:t>
            </a:r>
            <a:endParaRPr dirty="0">
              <a:latin typeface="Cambria"/>
              <a:ea typeface="Cambria"/>
            </a:endParaRPr>
          </a:p>
          <a:p>
            <a:pPr marL="0" marR="0" lvl="0" indent="0"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a:ea typeface="Cambria"/>
                <a:cs typeface="Verdana"/>
                <a:sym typeface="Verdana"/>
              </a:rPr>
              <a:t>Presidency University</a:t>
            </a:r>
            <a:endParaRPr dirty="0">
              <a:latin typeface="Cambria"/>
              <a:ea typeface="Cambria"/>
            </a:endParaRPr>
          </a:p>
          <a:p>
            <a:pPr marL="0" marR="0" lvl="0" indent="0" algn="l" rtl="0">
              <a:spcBef>
                <a:spcPts val="400"/>
              </a:spcBef>
              <a:spcAft>
                <a:spcPts val="0"/>
              </a:spcAft>
              <a:buClr>
                <a:srgbClr val="17365D"/>
              </a:buClr>
              <a:buSzPts val="2000"/>
              <a:buFont typeface="Arial"/>
              <a:buNone/>
            </a:pPr>
            <a:endParaRPr sz="2000" b="1" i="0" u="none" strike="noStrike" cap="none">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948597580"/>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20221CSE0425</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N Vishal</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US" sz="1800" u="none" strike="noStrike" cap="none" dirty="0"/>
                        <a:t>20221CSE0332</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Prajwal P</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US" sz="1800" u="none" strike="noStrike" cap="none" dirty="0"/>
                        <a:t>20221CSE083</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Prayas Mohanty</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 University Project</a:t>
            </a:r>
            <a:endParaRPr sz="180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a:solidFill>
                  <a:schemeClr val="accent1"/>
                </a:solidFill>
                <a:latin typeface="Cambria" panose="02040503050406030204" pitchFamily="18" charset="0"/>
                <a:ea typeface="Cambria" panose="02040503050406030204" pitchFamily="18" charset="0"/>
                <a:cs typeface="Verdana"/>
                <a:sym typeface="Verdana"/>
              </a:rPr>
              <a:t>Name of the Program</a:t>
            </a:r>
            <a:r>
              <a:rPr lang="en-US" sz="1800" b="1" i="0" u="none" strike="noStrike" cap="none">
                <a:solidFill>
                  <a:schemeClr val="tx1"/>
                </a:solidFill>
                <a:latin typeface="Cambria" panose="02040503050406030204" pitchFamily="18" charset="0"/>
                <a:ea typeface="Cambria" panose="02040503050406030204" pitchFamily="18" charset="0"/>
                <a:cs typeface="Verdana"/>
                <a:sym typeface="Verdana"/>
              </a:rPr>
              <a:t>: Computer Science and Engineering</a:t>
            </a:r>
          </a:p>
          <a:p>
            <a:pPr marL="0" marR="0" lvl="0" indent="0" rtl="0">
              <a:spcBef>
                <a:spcPts val="0"/>
              </a:spcBef>
              <a:spcAft>
                <a:spcPts val="0"/>
              </a:spcAft>
              <a:buClr>
                <a:srgbClr val="17365D"/>
              </a:buClr>
              <a:buSzPct val="100000"/>
              <a:buFont typeface="Arial"/>
              <a:buNone/>
            </a:pPr>
            <a:r>
              <a:rPr lang="en-US" sz="1800" b="1">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a:solidFill>
                  <a:schemeClr val="tx1"/>
                </a:solidFill>
                <a:latin typeface="Cambria" panose="02040503050406030204" pitchFamily="18" charset="0"/>
                <a:ea typeface="Cambria" panose="02040503050406030204" pitchFamily="18" charset="0"/>
                <a:cs typeface="Verdana"/>
                <a:sym typeface="Verdana"/>
              </a:rPr>
              <a:t>Dr. Blessed Prince</a:t>
            </a:r>
          </a:p>
          <a:p>
            <a:pPr lvl="0">
              <a:buClr>
                <a:srgbClr val="17365D"/>
              </a:buClr>
              <a:buSzPct val="100000"/>
            </a:pPr>
            <a:r>
              <a:rPr lang="en-US" sz="1800" b="1" i="0" u="none" strike="noStrike" cap="none">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p>
          <a:p>
            <a:pPr lvl="0">
              <a:buClr>
                <a:srgbClr val="17365D"/>
              </a:buClr>
              <a:buSzPct val="100000"/>
            </a:pPr>
            <a:r>
              <a:rPr lang="en-US" sz="1800" b="1">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endParaRPr sz="1800" b="1" i="0" u="none" strike="noStrike" cap="none">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597408" y="215167"/>
            <a:ext cx="10668000" cy="772385"/>
          </a:xfrm>
          <a:prstGeom prst="rect">
            <a:avLst/>
          </a:prstGeom>
          <a:noFill/>
          <a:ln>
            <a:noFill/>
          </a:ln>
        </p:spPr>
        <p:txBody>
          <a:bodyPr spcFirstLastPara="1" wrap="square" lIns="91425" tIns="45700" rIns="91425" bIns="45700" anchor="ctr" anchorCtr="0">
            <a:noAutofit/>
          </a:bodyPr>
          <a:lstStyle/>
          <a:p>
            <a:pPr marL="342900" lvl="0" indent="-190500">
              <a:lnSpc>
                <a:spcPct val="150000"/>
              </a:lnSpc>
            </a:pPr>
            <a:r>
              <a:rPr lang="en-US" dirty="0">
                <a:latin typeface="Cambria"/>
                <a:ea typeface="Cambria"/>
              </a:rPr>
              <a:t>Problem Statement Number: SIH250424</a:t>
            </a:r>
            <a:endParaRPr lang="en-US"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57784" y="987552"/>
            <a:ext cx="11036808" cy="5358384"/>
          </a:xfrm>
          <a:prstGeom prst="rect">
            <a:avLst/>
          </a:prstGeom>
          <a:noFill/>
          <a:ln>
            <a:noFill/>
          </a:ln>
        </p:spPr>
        <p:txBody>
          <a:bodyPr spcFirstLastPara="1" wrap="square" lIns="91425" tIns="45700" rIns="91425" bIns="45700" anchor="t" anchorCtr="0">
            <a:noAutofit/>
          </a:bodyPr>
          <a:lstStyle/>
          <a:p>
            <a:pPr marL="342900" lvl="0" indent="-190500" algn="just">
              <a:lnSpc>
                <a:spcPct val="150000"/>
              </a:lnSpc>
              <a:spcBef>
                <a:spcPts val="0"/>
              </a:spcBef>
              <a:buNone/>
            </a:pPr>
            <a:r>
              <a:rPr lang="en-US" sz="2000" dirty="0">
                <a:solidFill>
                  <a:srgbClr val="C00000"/>
                </a:solidFill>
                <a:latin typeface="Times New Roman"/>
                <a:ea typeface="Cambria"/>
                <a:cs typeface="Times New Roman"/>
              </a:rPr>
              <a:t> Student Innovation: Swadeshi for </a:t>
            </a:r>
            <a:r>
              <a:rPr lang="en-US" sz="2000" dirty="0" err="1">
                <a:solidFill>
                  <a:srgbClr val="C00000"/>
                </a:solidFill>
                <a:latin typeface="Times New Roman"/>
                <a:ea typeface="Cambria"/>
                <a:cs typeface="Times New Roman"/>
              </a:rPr>
              <a:t>Atmanirbhar</a:t>
            </a:r>
            <a:r>
              <a:rPr lang="en-US" sz="2000" dirty="0">
                <a:solidFill>
                  <a:srgbClr val="C00000"/>
                </a:solidFill>
                <a:latin typeface="Times New Roman"/>
                <a:ea typeface="Cambria"/>
                <a:cs typeface="Times New Roman"/>
              </a:rPr>
              <a:t> Bharat - MedTech / </a:t>
            </a:r>
            <a:r>
              <a:rPr lang="en-US" sz="2000" dirty="0" err="1">
                <a:solidFill>
                  <a:srgbClr val="C00000"/>
                </a:solidFill>
                <a:latin typeface="Times New Roman"/>
                <a:ea typeface="Cambria"/>
                <a:cs typeface="Times New Roman"/>
              </a:rPr>
              <a:t>BioTech</a:t>
            </a:r>
            <a:r>
              <a:rPr lang="en-US" sz="2000" dirty="0">
                <a:solidFill>
                  <a:srgbClr val="C00000"/>
                </a:solidFill>
                <a:latin typeface="Times New Roman"/>
                <a:ea typeface="Cambria"/>
                <a:cs typeface="Times New Roman"/>
              </a:rPr>
              <a:t> / HealthTech:</a:t>
            </a:r>
          </a:p>
          <a:p>
            <a:pPr marL="0" indent="0">
              <a:buNone/>
            </a:pPr>
            <a:r>
              <a:rPr lang="en-US" sz="2000" dirty="0">
                <a:latin typeface="Times New Roman"/>
                <a:ea typeface="Cambria"/>
                <a:cs typeface="Times New Roman"/>
              </a:rPr>
              <a:t> </a:t>
            </a:r>
            <a:r>
              <a:rPr lang="en-US" sz="1600" dirty="0">
                <a:latin typeface="Times New Roman"/>
                <a:cs typeface="Times New Roman"/>
              </a:rPr>
              <a:t>In Ayurvedic hospitals and clinics, diet charts are mostly written by hand. This method takes a lot of time, can cause mistakes, and makes it hard to store and update patient records. Most available diet and nutrition software only shows calories and nutrients and does not follow Ayurvedic food principles like hot or cold nature, digestibility, and the six tastes (Rasa). Because of this, Ayurvedic doctors and dietitians do not have a proper digital tool for their work.</a:t>
            </a:r>
          </a:p>
          <a:p>
            <a:pPr>
              <a:buNone/>
            </a:pPr>
            <a:r>
              <a:rPr lang="en-US" sz="1600" dirty="0">
                <a:latin typeface="Times New Roman"/>
                <a:cs typeface="Times New Roman"/>
              </a:rPr>
              <a:t>The proposed system is a </a:t>
            </a:r>
            <a:r>
              <a:rPr lang="en-US" sz="1600" b="1" dirty="0">
                <a:latin typeface="Times New Roman"/>
                <a:cs typeface="Times New Roman"/>
              </a:rPr>
              <a:t>cloud-based Ayurvedic diet management software</a:t>
            </a:r>
            <a:r>
              <a:rPr lang="en-US" sz="1600" dirty="0">
                <a:latin typeface="Times New Roman"/>
                <a:cs typeface="Times New Roman"/>
              </a:rPr>
              <a:t> that combines modern nutrition data with</a:t>
            </a:r>
          </a:p>
          <a:p>
            <a:pPr>
              <a:buNone/>
            </a:pPr>
            <a:r>
              <a:rPr lang="en-US" sz="1600" dirty="0">
                <a:latin typeface="Times New Roman"/>
                <a:cs typeface="Times New Roman"/>
              </a:rPr>
              <a:t>Ayurvedic concepts. It helps doctors create accurate, personalized diet charts quickly and manage patient information easily.</a:t>
            </a:r>
            <a:endParaRPr lang="en-US" sz="1600" dirty="0">
              <a:latin typeface="Times New Roman"/>
            </a:endParaRPr>
          </a:p>
          <a:p>
            <a:pPr>
              <a:buNone/>
            </a:pPr>
            <a:r>
              <a:rPr lang="en-US" sz="1600" dirty="0">
                <a:latin typeface="Times New Roman"/>
              </a:rPr>
              <a:t>Key Features</a:t>
            </a:r>
          </a:p>
          <a:p>
            <a:pPr marL="285750" indent="-285750"/>
            <a:r>
              <a:rPr lang="en-US" sz="1600" dirty="0">
                <a:latin typeface="Times New Roman"/>
                <a:cs typeface="Times New Roman"/>
              </a:rPr>
              <a:t>Large food database with Indian and international foods</a:t>
            </a:r>
            <a:endParaRPr lang="en-US" sz="1600" dirty="0">
              <a:latin typeface="Times New Roman"/>
            </a:endParaRPr>
          </a:p>
          <a:p>
            <a:pPr marL="285750" indent="-285750"/>
            <a:r>
              <a:rPr lang="en-US" sz="1600" dirty="0">
                <a:latin typeface="Times New Roman"/>
                <a:cs typeface="Times New Roman"/>
              </a:rPr>
              <a:t>Supports Ayurvedic food properties and modern nutrient values</a:t>
            </a:r>
            <a:endParaRPr lang="en-US" sz="1600" dirty="0">
              <a:latin typeface="Times New Roman"/>
            </a:endParaRPr>
          </a:p>
          <a:p>
            <a:pPr marL="285750" indent="-285750"/>
            <a:r>
              <a:rPr lang="en-US" sz="1600" dirty="0">
                <a:latin typeface="Times New Roman"/>
                <a:cs typeface="Times New Roman"/>
              </a:rPr>
              <a:t>Automatically creates personalized diet charts</a:t>
            </a:r>
            <a:endParaRPr lang="en-US" sz="1600" dirty="0">
              <a:latin typeface="Times New Roman"/>
            </a:endParaRPr>
          </a:p>
          <a:p>
            <a:pPr marL="285750" indent="-285750"/>
            <a:r>
              <a:rPr lang="en-US" sz="1600" dirty="0">
                <a:latin typeface="Times New Roman"/>
                <a:cs typeface="Times New Roman"/>
              </a:rPr>
              <a:t>Stores complete patient details in one place</a:t>
            </a:r>
            <a:endParaRPr lang="en-US" sz="1600" dirty="0">
              <a:latin typeface="Times New Roman"/>
            </a:endParaRPr>
          </a:p>
          <a:p>
            <a:pPr marL="285750" indent="-285750"/>
            <a:r>
              <a:rPr lang="en-US" sz="1600" dirty="0">
                <a:latin typeface="Times New Roman"/>
                <a:cs typeface="Times New Roman"/>
              </a:rPr>
              <a:t>Provides recipe-based nutrient analysis</a:t>
            </a:r>
            <a:endParaRPr lang="en-US" sz="1600" dirty="0">
              <a:latin typeface="Times New Roman"/>
            </a:endParaRPr>
          </a:p>
          <a:p>
            <a:pPr marL="285750" indent="-285750"/>
            <a:r>
              <a:rPr lang="en-US" sz="1600" dirty="0">
                <a:latin typeface="Times New Roman"/>
                <a:cs typeface="Times New Roman"/>
              </a:rPr>
              <a:t>Works on mobile, tablet, and computer</a:t>
            </a:r>
            <a:endParaRPr lang="en-US" sz="1600" dirty="0">
              <a:latin typeface="Times New Roman"/>
            </a:endParaRPr>
          </a:p>
          <a:p>
            <a:pPr marL="285750" indent="-285750"/>
            <a:r>
              <a:rPr lang="en-US" sz="1600" dirty="0">
                <a:latin typeface="Times New Roman"/>
                <a:cs typeface="Times New Roman"/>
              </a:rPr>
              <a:t>Allows printing of diet charts and reports</a:t>
            </a:r>
            <a:endParaRPr lang="en-US" sz="1600" dirty="0">
              <a:latin typeface="Times New Roman"/>
            </a:endParaRPr>
          </a:p>
          <a:p>
            <a:pPr marL="342900" indent="-190500" algn="ctr">
              <a:lnSpc>
                <a:spcPct val="150000"/>
              </a:lnSpc>
              <a:spcBef>
                <a:spcPts val="0"/>
              </a:spcBef>
              <a:buNone/>
            </a:pPr>
            <a:endParaRPr lang="en-US" sz="2000" dirty="0">
              <a:latin typeface="Times New Roman"/>
              <a:ea typeface="Cambria" panose="02040503050406030204" pitchFamily="18" charset="0"/>
              <a:cs typeface="Times New Roman"/>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DD923-32DF-95D0-8F2C-0109CA2DA590}"/>
              </a:ext>
            </a:extLst>
          </p:cNvPr>
          <p:cNvSpPr>
            <a:spLocks noGrp="1"/>
          </p:cNvSpPr>
          <p:nvPr>
            <p:ph type="title"/>
          </p:nvPr>
        </p:nvSpPr>
        <p:spPr/>
        <p:txBody>
          <a:bodyPr/>
          <a:lstStyle/>
          <a:p>
            <a:pPr marL="76200"/>
            <a:r>
              <a:rPr lang="en-US">
                <a:solidFill>
                  <a:schemeClr val="bg2"/>
                </a:solidFill>
                <a:latin typeface="Cambria" panose="02040503050406030204" pitchFamily="18" charset="0"/>
                <a:ea typeface="Cambria" panose="02040503050406030204" pitchFamily="18" charset="0"/>
              </a:rPr>
              <a:t>Objectives</a:t>
            </a:r>
            <a:endParaRPr lang="en-US" sz="1800">
              <a:solidFill>
                <a:schemeClr val="bg2"/>
              </a:solidFill>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FBD693F8-92FD-8138-83A9-A601B9BD1A06}"/>
              </a:ext>
            </a:extLst>
          </p:cNvPr>
          <p:cNvSpPr>
            <a:spLocks noGrp="1"/>
          </p:cNvSpPr>
          <p:nvPr>
            <p:ph type="body" idx="1"/>
          </p:nvPr>
        </p:nvSpPr>
        <p:spPr/>
        <p:txBody>
          <a:bodyPr/>
          <a:lstStyle/>
          <a:p>
            <a:endParaRPr lang="en-IN" sz="1600">
              <a:latin typeface="Cambria" panose="02040503050406030204" pitchFamily="18" charset="0"/>
              <a:ea typeface="Cambria" panose="02040503050406030204" pitchFamily="18" charset="0"/>
            </a:endParaRPr>
          </a:p>
          <a:p>
            <a:pPr marL="76200" indent="0">
              <a:buNone/>
            </a:pPr>
            <a:endParaRPr lang="en-IN" sz="1600">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5CFFCF49-AD54-31D5-5071-96000CCE4671}"/>
              </a:ext>
            </a:extLst>
          </p:cNvPr>
          <p:cNvSpPr txBox="1"/>
          <p:nvPr/>
        </p:nvSpPr>
        <p:spPr>
          <a:xfrm>
            <a:off x="812800" y="1143001"/>
            <a:ext cx="10885936" cy="5201424"/>
          </a:xfrm>
          <a:prstGeom prst="rect">
            <a:avLst/>
          </a:prstGeom>
          <a:noFill/>
        </p:spPr>
        <p:txBody>
          <a:bodyPr wrap="square" lIns="91440" tIns="45720" rIns="91440" bIns="45720" anchor="t">
            <a:spAutoFit/>
          </a:bodyPr>
          <a:lstStyle/>
          <a:p>
            <a:pPr algn="just">
              <a:buFont typeface="Arial" panose="020B0604020202020204" pitchFamily="34" charset="0"/>
              <a:buChar char="•"/>
            </a:pPr>
            <a:r>
              <a:rPr lang="en-US" sz="2400">
                <a:latin typeface="Times New Roman"/>
              </a:rPr>
              <a:t>To develop a cloud-based software system for Ayurvedic diet management</a:t>
            </a:r>
            <a:endParaRPr lang="en-US" sz="2400" dirty="0">
              <a:latin typeface="Times New Roman"/>
            </a:endParaRPr>
          </a:p>
          <a:p>
            <a:pPr algn="just">
              <a:buFont typeface="Arial" panose="020B0604020202020204" pitchFamily="34" charset="0"/>
              <a:buChar char="•"/>
            </a:pPr>
            <a:r>
              <a:rPr lang="en-US" sz="2400" dirty="0">
                <a:latin typeface="Times New Roman"/>
              </a:rPr>
              <a:t>To reduce manual and handwritten diet chart preparation</a:t>
            </a:r>
          </a:p>
          <a:p>
            <a:pPr algn="just">
              <a:buFont typeface="Arial" panose="020B0604020202020204" pitchFamily="34" charset="0"/>
              <a:buChar char="•"/>
            </a:pPr>
            <a:r>
              <a:rPr lang="en-US" sz="2400" dirty="0">
                <a:latin typeface="Times New Roman"/>
              </a:rPr>
              <a:t>To combine modern nutrition values with Ayurvedic dietary principles</a:t>
            </a:r>
          </a:p>
          <a:p>
            <a:pPr algn="just">
              <a:buFont typeface="Arial" panose="020B0604020202020204" pitchFamily="34" charset="0"/>
              <a:buChar char="•"/>
            </a:pPr>
            <a:r>
              <a:rPr lang="en-US" sz="2400" dirty="0">
                <a:latin typeface="Times New Roman"/>
              </a:rPr>
              <a:t>To help Ayurvedic dietitians create accurate and personalized diet charts</a:t>
            </a:r>
          </a:p>
          <a:p>
            <a:pPr algn="just">
              <a:buFont typeface="Arial" panose="020B0604020202020204" pitchFamily="34" charset="0"/>
              <a:buChar char="•"/>
            </a:pPr>
            <a:r>
              <a:rPr lang="en-US" sz="2400" dirty="0">
                <a:latin typeface="Times New Roman"/>
              </a:rPr>
              <a:t>To maintain complete patient records in a digital format</a:t>
            </a:r>
          </a:p>
          <a:p>
            <a:pPr algn="just">
              <a:buFont typeface="Arial" panose="020B0604020202020204" pitchFamily="34" charset="0"/>
              <a:buChar char="•"/>
            </a:pPr>
            <a:r>
              <a:rPr lang="en-US" sz="2400" dirty="0">
                <a:latin typeface="Times New Roman"/>
              </a:rPr>
              <a:t>To provide a large food database including Indian and international foods</a:t>
            </a:r>
          </a:p>
          <a:p>
            <a:pPr algn="just">
              <a:buFont typeface="Arial" panose="020B0604020202020204" pitchFamily="34" charset="0"/>
              <a:buChar char="•"/>
            </a:pPr>
            <a:r>
              <a:rPr lang="en-US" sz="2400" dirty="0">
                <a:latin typeface="Times New Roman"/>
              </a:rPr>
              <a:t>To support recipe-based diet planning with automatic nutrient calculation</a:t>
            </a:r>
          </a:p>
          <a:p>
            <a:pPr algn="just">
              <a:buFont typeface="Arial" panose="020B0604020202020204" pitchFamily="34" charset="0"/>
              <a:buChar char="•"/>
            </a:pPr>
            <a:r>
              <a:rPr lang="en-US" sz="2400" dirty="0">
                <a:latin typeface="Times New Roman"/>
              </a:rPr>
              <a:t>To improve efficiency and reduce errors in diet planning</a:t>
            </a:r>
          </a:p>
          <a:p>
            <a:pPr algn="just">
              <a:buFont typeface="Arial" panose="020B0604020202020204" pitchFamily="34" charset="0"/>
              <a:buChar char="•"/>
            </a:pPr>
            <a:r>
              <a:rPr lang="en-US" sz="2400" dirty="0">
                <a:latin typeface="Times New Roman"/>
              </a:rPr>
              <a:t>To make the system easy to use for doctors and dietitians</a:t>
            </a:r>
          </a:p>
          <a:p>
            <a:pPr algn="just">
              <a:buFont typeface="Arial" panose="020B0604020202020204" pitchFamily="34" charset="0"/>
              <a:buChar char="•"/>
            </a:pPr>
            <a:r>
              <a:rPr lang="en-US" sz="2400" dirty="0">
                <a:latin typeface="Times New Roman"/>
              </a:rPr>
              <a:t>To enable access through mobile, tablet, and computer devices</a:t>
            </a:r>
          </a:p>
          <a:p>
            <a:pPr algn="just">
              <a:buFont typeface="Arial" panose="020B0604020202020204" pitchFamily="34" charset="0"/>
              <a:buChar char="•"/>
            </a:pPr>
            <a:r>
              <a:rPr lang="en-US" sz="2400" dirty="0">
                <a:latin typeface="Times New Roman"/>
              </a:rPr>
              <a:t>To allow printing and sharing of diet charts and reports</a:t>
            </a:r>
          </a:p>
          <a:p>
            <a:pPr algn="just">
              <a:buFont typeface="Arial" panose="020B0604020202020204" pitchFamily="34" charset="0"/>
              <a:buChar char="•"/>
            </a:pPr>
            <a:r>
              <a:rPr lang="en-US" sz="2400" dirty="0">
                <a:latin typeface="Times New Roman"/>
              </a:rPr>
              <a:t>To ensure secure storage of patient health data</a:t>
            </a:r>
          </a:p>
          <a:p>
            <a:pPr algn="just">
              <a:buFont typeface="Arial" panose="020B0604020202020204" pitchFamily="34" charset="0"/>
              <a:buChar char="•"/>
            </a:pPr>
            <a:r>
              <a:rPr lang="en-US" sz="2400" dirty="0">
                <a:latin typeface="Times New Roman"/>
              </a:rPr>
              <a:t>To support future integration with hospital systems and EHRs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8384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06850-0E6E-54C2-9520-1278EBC89BDC}"/>
              </a:ext>
            </a:extLst>
          </p:cNvPr>
          <p:cNvSpPr>
            <a:spLocks noGrp="1"/>
          </p:cNvSpPr>
          <p:nvPr>
            <p:ph type="title"/>
          </p:nvPr>
        </p:nvSpPr>
        <p:spPr/>
        <p:txBody>
          <a:bodyPr/>
          <a:lstStyle/>
          <a:p>
            <a:r>
              <a:rPr lang="en-US">
                <a:latin typeface="Cambria" panose="02040503050406030204" pitchFamily="18" charset="0"/>
                <a:ea typeface="Cambria" panose="02040503050406030204" pitchFamily="18" charset="0"/>
              </a:rPr>
              <a:t>Background and related work</a:t>
            </a:r>
            <a:endParaRPr lang="en-IN">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304C186F-316D-C34F-B1BF-D22E7F15315C}"/>
              </a:ext>
            </a:extLst>
          </p:cNvPr>
          <p:cNvSpPr>
            <a:spLocks noGrp="1"/>
          </p:cNvSpPr>
          <p:nvPr>
            <p:ph type="body" idx="1"/>
          </p:nvPr>
        </p:nvSpPr>
        <p:spPr>
          <a:xfrm>
            <a:off x="812800" y="928360"/>
            <a:ext cx="10668000" cy="5548641"/>
          </a:xfrm>
        </p:spPr>
        <p:txBody>
          <a:bodyPr>
            <a:noAutofit/>
          </a:bodyPr>
          <a:lstStyle/>
          <a:p>
            <a:pPr marL="76200" indent="0">
              <a:buNone/>
            </a:pPr>
            <a:r>
              <a:rPr lang="en-US" sz="1800" b="1" dirty="0">
                <a:latin typeface="Times New Roman"/>
                <a:cs typeface="Times New Roman"/>
              </a:rPr>
              <a:t>Background</a:t>
            </a:r>
            <a:endParaRPr lang="en-US" sz="1800" dirty="0">
              <a:latin typeface="Times New Roman"/>
              <a:cs typeface="Times New Roman"/>
            </a:endParaRPr>
          </a:p>
          <a:p>
            <a:r>
              <a:rPr lang="en-US" sz="1600" b="1">
                <a:latin typeface="Times New Roman"/>
                <a:cs typeface="Times New Roman"/>
              </a:rPr>
              <a:t>Diet plays a major role in Ayurvedic treatment</a:t>
            </a:r>
            <a:r>
              <a:rPr lang="en-US" sz="1600">
                <a:latin typeface="Times New Roman"/>
                <a:cs typeface="Times New Roman"/>
              </a:rPr>
              <a:t> – Ayurveda considers food as medicine and uses diet to balance the body and support healing.</a:t>
            </a:r>
            <a:endParaRPr lang="en-US" sz="1600" dirty="0">
              <a:latin typeface="Times New Roman"/>
              <a:cs typeface="Times New Roman"/>
            </a:endParaRPr>
          </a:p>
          <a:p>
            <a:r>
              <a:rPr lang="en-US" sz="1600" b="1">
                <a:latin typeface="Times New Roman"/>
                <a:cs typeface="Times New Roman"/>
              </a:rPr>
              <a:t>Diet charts are mostly prepared manually</a:t>
            </a:r>
            <a:r>
              <a:rPr lang="en-US" sz="1600" dirty="0">
                <a:latin typeface="Times New Roman"/>
                <a:cs typeface="Times New Roman"/>
              </a:rPr>
              <a:t> – Most Ayurvedic doctors still write diet plans by hand instead of using digital tools.</a:t>
            </a:r>
          </a:p>
          <a:p>
            <a:r>
              <a:rPr lang="en-US" sz="1600" b="1">
                <a:latin typeface="Times New Roman"/>
                <a:cs typeface="Times New Roman"/>
              </a:rPr>
              <a:t>Manual diet planning is time-consuming</a:t>
            </a:r>
            <a:r>
              <a:rPr lang="en-US" sz="1600">
                <a:latin typeface="Times New Roman"/>
                <a:cs typeface="Times New Roman"/>
              </a:rPr>
              <a:t> – Creating and updating diet charts by hand takes extra effort and time.</a:t>
            </a:r>
            <a:endParaRPr lang="en-US" sz="1600" dirty="0">
              <a:latin typeface="Times New Roman"/>
              <a:cs typeface="Times New Roman"/>
            </a:endParaRPr>
          </a:p>
          <a:p>
            <a:r>
              <a:rPr lang="en-US" sz="1600" b="1">
                <a:latin typeface="Times New Roman"/>
                <a:cs typeface="Times New Roman"/>
              </a:rPr>
              <a:t>Handwritten records are difficult to manage</a:t>
            </a:r>
            <a:r>
              <a:rPr lang="en-US" sz="1600">
                <a:latin typeface="Times New Roman"/>
                <a:cs typeface="Times New Roman"/>
              </a:rPr>
              <a:t> – Paper records are hard to store, search, and maintain for long periods.</a:t>
            </a:r>
            <a:endParaRPr lang="en-US" sz="1600" dirty="0">
              <a:latin typeface="Times New Roman"/>
              <a:cs typeface="Times New Roman"/>
            </a:endParaRPr>
          </a:p>
          <a:p>
            <a:r>
              <a:rPr lang="en-US" sz="1600" b="1">
                <a:latin typeface="Times New Roman"/>
                <a:cs typeface="Times New Roman"/>
              </a:rPr>
              <a:t>Existing software does not support Ayurveda</a:t>
            </a:r>
            <a:r>
              <a:rPr lang="en-US" sz="1600">
                <a:latin typeface="Times New Roman"/>
                <a:cs typeface="Times New Roman"/>
              </a:rPr>
              <a:t> – Current diet software focuses on calories and ignores Ayurvedic food principles.</a:t>
            </a:r>
          </a:p>
          <a:p>
            <a:pPr marL="76200" indent="0">
              <a:buNone/>
            </a:pPr>
            <a:r>
              <a:rPr lang="en-US" sz="1800" b="1" dirty="0">
                <a:latin typeface="Times New Roman"/>
                <a:cs typeface="Times New Roman"/>
              </a:rPr>
              <a:t>Related Work</a:t>
            </a:r>
            <a:endParaRPr lang="en-US" sz="1800" dirty="0">
              <a:latin typeface="Times New Roman"/>
              <a:cs typeface="Times New Roman"/>
            </a:endParaRPr>
          </a:p>
          <a:p>
            <a:r>
              <a:rPr lang="en-US" sz="1600" b="1">
                <a:latin typeface="Times New Roman"/>
                <a:cs typeface="Times New Roman"/>
              </a:rPr>
              <a:t>Nutrition apps focus only on calories and nutrients</a:t>
            </a:r>
            <a:r>
              <a:rPr lang="en-US" sz="1600">
                <a:latin typeface="Times New Roman"/>
                <a:cs typeface="Times New Roman"/>
              </a:rPr>
              <a:t> – These apps track modern nutrition but not Ayurvedic concepts.</a:t>
            </a:r>
          </a:p>
          <a:p>
            <a:r>
              <a:rPr lang="en-US" sz="1600" b="1">
                <a:latin typeface="Times New Roman"/>
                <a:cs typeface="Times New Roman"/>
              </a:rPr>
              <a:t>Clinical diet software supports modern medicine</a:t>
            </a:r>
            <a:r>
              <a:rPr lang="en-US" sz="1600">
                <a:latin typeface="Times New Roman"/>
                <a:cs typeface="Times New Roman"/>
              </a:rPr>
              <a:t> – Such software is designed mainly for allopathy-based hospitals.</a:t>
            </a:r>
          </a:p>
          <a:p>
            <a:r>
              <a:rPr lang="en-US" sz="1600" b="1">
                <a:latin typeface="Times New Roman"/>
                <a:cs typeface="Times New Roman"/>
              </a:rPr>
              <a:t>Hospital systems offer limited diet modules</a:t>
            </a:r>
            <a:r>
              <a:rPr lang="en-US" sz="1600">
                <a:latin typeface="Times New Roman"/>
                <a:cs typeface="Times New Roman"/>
              </a:rPr>
              <a:t> – Diet features in HIS are basic and not customizable for Ayurveda.</a:t>
            </a:r>
          </a:p>
          <a:p>
            <a:r>
              <a:rPr lang="en-US" sz="1600" b="1">
                <a:latin typeface="Times New Roman"/>
                <a:cs typeface="Times New Roman"/>
              </a:rPr>
              <a:t>Ayurveda apps provide only food information</a:t>
            </a:r>
            <a:r>
              <a:rPr lang="en-US" sz="1600">
                <a:latin typeface="Times New Roman"/>
                <a:cs typeface="Times New Roman"/>
              </a:rPr>
              <a:t> – These apps explain foods but do not generate diet charts.</a:t>
            </a:r>
          </a:p>
          <a:p>
            <a:r>
              <a:rPr lang="en-US" sz="1600" b="1">
                <a:latin typeface="Times New Roman"/>
                <a:cs typeface="Times New Roman"/>
              </a:rPr>
              <a:t>No complete Ayurvedic diet planning system exists</a:t>
            </a:r>
            <a:r>
              <a:rPr lang="en-US" sz="1600">
                <a:latin typeface="Times New Roman"/>
                <a:cs typeface="Times New Roman"/>
              </a:rPr>
              <a:t> – There is no single platform covering all Ayurvedic diet needs.</a:t>
            </a:r>
          </a:p>
          <a:p>
            <a:endParaRPr lang="en-US" sz="1600" dirty="0">
              <a:latin typeface="Times New Roman" panose="02020603050405020304" pitchFamily="18" charset="0"/>
              <a:cs typeface="Times New Roman" panose="02020603050405020304" pitchFamily="18" charset="0"/>
            </a:endParaRPr>
          </a:p>
          <a:p>
            <a:pPr marL="152400" indent="0">
              <a:spcBef>
                <a:spcPts val="0"/>
              </a:spcBef>
              <a:buNone/>
            </a:pPr>
            <a:endParaRPr lang="en-US" sz="1600">
              <a:latin typeface="Times New Roman" panose="02020603050405020304" pitchFamily="18" charset="0"/>
              <a:ea typeface="Cambria" panose="02040503050406030204" pitchFamily="18" charset="0"/>
              <a:cs typeface="Times New Roman" panose="02020603050405020304" pitchFamily="18" charset="0"/>
            </a:endParaRPr>
          </a:p>
          <a:p>
            <a:endParaRPr lang="en-IN" sz="160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01921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AFEFF-4BD2-D658-9348-0AB56B3A05F4}"/>
              </a:ext>
            </a:extLst>
          </p:cNvPr>
          <p:cNvSpPr>
            <a:spLocks noGrp="1"/>
          </p:cNvSpPr>
          <p:nvPr>
            <p:ph type="title"/>
          </p:nvPr>
        </p:nvSpPr>
        <p:spPr/>
        <p:txBody>
          <a:bodyPr/>
          <a:lstStyle/>
          <a:p>
            <a:pPr marL="152400" lvl="0" algn="just">
              <a:lnSpc>
                <a:spcPct val="200000"/>
              </a:lnSpc>
            </a:pPr>
            <a:r>
              <a:rPr lang="en-US">
                <a:solidFill>
                  <a:schemeClr val="bg2"/>
                </a:solidFill>
                <a:latin typeface="Cambria" panose="02040503050406030204" pitchFamily="18" charset="0"/>
                <a:ea typeface="Cambria" panose="02040503050406030204" pitchFamily="18" charset="0"/>
              </a:rPr>
              <a:t>Analysis of Problem Statement</a:t>
            </a:r>
          </a:p>
        </p:txBody>
      </p:sp>
      <p:sp>
        <p:nvSpPr>
          <p:cNvPr id="3" name="Text Placeholder 2">
            <a:extLst>
              <a:ext uri="{FF2B5EF4-FFF2-40B4-BE49-F238E27FC236}">
                <a16:creationId xmlns:a16="http://schemas.microsoft.com/office/drawing/2014/main" id="{73D45FE6-158F-E509-F4A6-67CB505E26E2}"/>
              </a:ext>
            </a:extLst>
          </p:cNvPr>
          <p:cNvSpPr>
            <a:spLocks noGrp="1"/>
          </p:cNvSpPr>
          <p:nvPr>
            <p:ph type="body" idx="1"/>
          </p:nvPr>
        </p:nvSpPr>
        <p:spPr/>
        <p:txBody>
          <a:bodyPr>
            <a:normAutofit/>
          </a:bodyPr>
          <a:lstStyle/>
          <a:p>
            <a:pPr marL="76200" indent="0">
              <a:buNone/>
            </a:pPr>
            <a:r>
              <a:rPr lang="en-US" sz="1800" b="1" dirty="0">
                <a:latin typeface="Times New Roman"/>
                <a:ea typeface="Cambria"/>
                <a:cs typeface="Times New Roman"/>
              </a:rPr>
              <a:t>Context and Importance</a:t>
            </a:r>
          </a:p>
          <a:p>
            <a:r>
              <a:rPr lang="en-US" sz="1700" b="1">
                <a:latin typeface="Times New Roman"/>
                <a:cs typeface="Times New Roman"/>
              </a:rPr>
              <a:t>Personalized Ayurvedic diet planning</a:t>
            </a:r>
            <a:r>
              <a:rPr lang="en-US" sz="1700">
                <a:latin typeface="Times New Roman"/>
                <a:cs typeface="Times New Roman"/>
              </a:rPr>
              <a:t> – Diet plans are created based on individual body type and health condition.</a:t>
            </a:r>
            <a:endParaRPr lang="en-US" sz="1700" dirty="0">
              <a:latin typeface="Times New Roman"/>
              <a:cs typeface="Times New Roman"/>
            </a:endParaRPr>
          </a:p>
          <a:p>
            <a:r>
              <a:rPr lang="en-US" sz="1700" b="1" dirty="0">
                <a:latin typeface="Times New Roman"/>
                <a:cs typeface="Times New Roman"/>
              </a:rPr>
              <a:t>Manual diet chart preparation</a:t>
            </a:r>
            <a:r>
              <a:rPr lang="en-US" sz="1700" dirty="0">
                <a:latin typeface="Times New Roman"/>
                <a:cs typeface="Times New Roman"/>
              </a:rPr>
              <a:t> – Most Ayurvedic diet charts are still written by hand.</a:t>
            </a:r>
          </a:p>
          <a:p>
            <a:r>
              <a:rPr lang="en-US" sz="1700" b="1" dirty="0">
                <a:latin typeface="Times New Roman"/>
                <a:cs typeface="Times New Roman"/>
              </a:rPr>
              <a:t>Time-consuming and error-prone process</a:t>
            </a:r>
            <a:r>
              <a:rPr lang="en-US" sz="1700" dirty="0">
                <a:latin typeface="Times New Roman"/>
                <a:cs typeface="Times New Roman"/>
              </a:rPr>
              <a:t> – Manual work takes longer and can lead to mistakes.</a:t>
            </a:r>
          </a:p>
          <a:p>
            <a:r>
              <a:rPr lang="en-US" sz="1700" b="1" dirty="0">
                <a:latin typeface="Times New Roman"/>
                <a:cs typeface="Times New Roman"/>
              </a:rPr>
              <a:t>Lack of Ayurveda-focused software</a:t>
            </a:r>
            <a:r>
              <a:rPr lang="en-US" sz="1700" dirty="0">
                <a:latin typeface="Times New Roman"/>
                <a:cs typeface="Times New Roman"/>
              </a:rPr>
              <a:t> – Existing diet tools do not follow Ayurvedic food principles.</a:t>
            </a:r>
          </a:p>
          <a:p>
            <a:r>
              <a:rPr lang="en-US" sz="1700" b="1">
                <a:latin typeface="Times New Roman"/>
                <a:cs typeface="Times New Roman"/>
              </a:rPr>
              <a:t>Need for digital transformation</a:t>
            </a:r>
            <a:r>
              <a:rPr lang="en-US" sz="1700">
                <a:latin typeface="Times New Roman"/>
                <a:cs typeface="Times New Roman"/>
              </a:rPr>
              <a:t> – A digital system can improve accuracy, speed, and record management.</a:t>
            </a:r>
          </a:p>
          <a:p>
            <a:pPr marL="76200" indent="0">
              <a:buNone/>
            </a:pPr>
            <a:endParaRPr lang="en-US" sz="1800" b="1" dirty="0">
              <a:latin typeface="Times New Roman"/>
              <a:ea typeface="Cambria"/>
              <a:cs typeface="Times New Roman"/>
            </a:endParaRPr>
          </a:p>
          <a:p>
            <a:pPr marL="76200" indent="0">
              <a:buNone/>
            </a:pPr>
            <a:r>
              <a:rPr lang="en-US" sz="1800" b="1">
                <a:latin typeface="Times New Roman"/>
                <a:ea typeface="Cambria"/>
                <a:cs typeface="Times New Roman"/>
              </a:rPr>
              <a:t>Identified </a:t>
            </a:r>
            <a:r>
              <a:rPr lang="en-US" sz="1800" b="1" dirty="0">
                <a:latin typeface="Times New Roman"/>
                <a:ea typeface="Cambria"/>
                <a:cs typeface="Times New Roman"/>
              </a:rPr>
              <a:t>Gaps</a:t>
            </a:r>
            <a:endParaRPr lang="en-US" sz="1800">
              <a:latin typeface="Times New Roman"/>
              <a:ea typeface="Cambria"/>
              <a:cs typeface="Times New Roman"/>
            </a:endParaRPr>
          </a:p>
          <a:p>
            <a:r>
              <a:rPr lang="en-US" sz="1800" b="1">
                <a:latin typeface="Times New Roman"/>
                <a:cs typeface="Times New Roman"/>
              </a:rPr>
              <a:t>Ayurvedic concepts are not digitally integrated</a:t>
            </a:r>
            <a:r>
              <a:rPr lang="en-US" sz="1800">
                <a:latin typeface="Times New Roman"/>
                <a:cs typeface="Times New Roman"/>
              </a:rPr>
              <a:t> – Important ideas like Rasa and digestion are missing in software.</a:t>
            </a:r>
          </a:p>
          <a:p>
            <a:r>
              <a:rPr lang="en-US" sz="1800" b="1">
                <a:latin typeface="Times New Roman"/>
                <a:cs typeface="Times New Roman"/>
              </a:rPr>
              <a:t>Indian and regional foods are poorly supported</a:t>
            </a:r>
            <a:r>
              <a:rPr lang="en-US" sz="1800">
                <a:latin typeface="Times New Roman"/>
                <a:cs typeface="Times New Roman"/>
              </a:rPr>
              <a:t> – Many tools lack Indian recipes and traditional foods.</a:t>
            </a:r>
          </a:p>
          <a:p>
            <a:r>
              <a:rPr lang="en-US" sz="1800" b="1">
                <a:latin typeface="Times New Roman"/>
                <a:cs typeface="Times New Roman"/>
              </a:rPr>
              <a:t>Diet chart preparation is not automated</a:t>
            </a:r>
            <a:r>
              <a:rPr lang="en-US" sz="1800">
                <a:latin typeface="Times New Roman"/>
                <a:cs typeface="Times New Roman"/>
              </a:rPr>
              <a:t> – Doctors must manually plan meals instead of using automation.</a:t>
            </a:r>
          </a:p>
          <a:p>
            <a:r>
              <a:rPr lang="en-US" sz="1800" b="1">
                <a:latin typeface="Times New Roman"/>
                <a:cs typeface="Times New Roman"/>
              </a:rPr>
              <a:t>Patient data management is inefficient</a:t>
            </a:r>
            <a:r>
              <a:rPr lang="en-US" sz="1800">
                <a:latin typeface="Times New Roman"/>
                <a:cs typeface="Times New Roman"/>
              </a:rPr>
              <a:t> – Patient details are scattered and not well organized digitally</a:t>
            </a:r>
            <a:r>
              <a:rPr lang="en-US" sz="2000">
                <a:latin typeface="Times New Roman"/>
                <a:cs typeface="Times New Roman"/>
              </a:rPr>
              <a:t>.</a:t>
            </a:r>
          </a:p>
          <a:p>
            <a:endParaRPr lang="en-US" sz="1800" dirty="0">
              <a:latin typeface="Times New Roman" panose="02020603050405020304" pitchFamily="18" charset="0"/>
              <a:cs typeface="Times New Roman" panose="02020603050405020304" pitchFamily="18" charset="0"/>
            </a:endParaRPr>
          </a:p>
          <a:p>
            <a:pPr marL="76200" indent="0">
              <a:buNone/>
            </a:pPr>
            <a:endParaRPr lang="en-US" sz="1800" b="1">
              <a:latin typeface="Cambria" panose="02040503050406030204" pitchFamily="18" charset="0"/>
              <a:ea typeface="Cambria" panose="02040503050406030204" pitchFamily="18" charset="0"/>
            </a:endParaRPr>
          </a:p>
          <a:p>
            <a:endParaRPr lang="en-US" sz="1800">
              <a:latin typeface="Cambria" panose="02040503050406030204" pitchFamily="18" charset="0"/>
              <a:ea typeface="Cambria" panose="02040503050406030204" pitchFamily="18" charset="0"/>
            </a:endParaRPr>
          </a:p>
          <a:p>
            <a:endParaRPr lang="en-IN"/>
          </a:p>
        </p:txBody>
      </p:sp>
    </p:spTree>
    <p:extLst>
      <p:ext uri="{BB962C8B-B14F-4D97-AF65-F5344CB8AC3E}">
        <p14:creationId xmlns:p14="http://schemas.microsoft.com/office/powerpoint/2010/main" val="935610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7942C-16EA-8EA2-DA58-58161C642D82}"/>
              </a:ext>
            </a:extLst>
          </p:cNvPr>
          <p:cNvSpPr>
            <a:spLocks noGrp="1"/>
          </p:cNvSpPr>
          <p:nvPr>
            <p:ph type="title"/>
          </p:nvPr>
        </p:nvSpPr>
        <p:spPr/>
        <p:txBody>
          <a:bodyPr/>
          <a:lstStyle/>
          <a:p>
            <a:r>
              <a:rPr lang="en-US">
                <a:solidFill>
                  <a:schemeClr val="bg2"/>
                </a:solidFill>
                <a:latin typeface="Cambria" panose="02040503050406030204" pitchFamily="18" charset="0"/>
                <a:ea typeface="Cambria" panose="02040503050406030204" pitchFamily="18" charset="0"/>
              </a:rPr>
              <a:t>Analysis of Problem Statement</a:t>
            </a:r>
            <a:endParaRPr lang="en-IN">
              <a:solidFill>
                <a:schemeClr val="bg2"/>
              </a:solidFill>
            </a:endParaRPr>
          </a:p>
        </p:txBody>
      </p:sp>
      <p:sp>
        <p:nvSpPr>
          <p:cNvPr id="3" name="Text Placeholder 2">
            <a:extLst>
              <a:ext uri="{FF2B5EF4-FFF2-40B4-BE49-F238E27FC236}">
                <a16:creationId xmlns:a16="http://schemas.microsoft.com/office/drawing/2014/main" id="{3165C9E2-8823-FB57-C4A8-BA195C7F5AE4}"/>
              </a:ext>
            </a:extLst>
          </p:cNvPr>
          <p:cNvSpPr>
            <a:spLocks noGrp="1"/>
          </p:cNvSpPr>
          <p:nvPr>
            <p:ph type="body" idx="1"/>
          </p:nvPr>
        </p:nvSpPr>
        <p:spPr/>
        <p:txBody>
          <a:bodyPr>
            <a:normAutofit fontScale="70000" lnSpcReduction="20000"/>
          </a:bodyPr>
          <a:lstStyle/>
          <a:p>
            <a:pPr marL="76200" indent="0">
              <a:lnSpc>
                <a:spcPct val="110000"/>
              </a:lnSpc>
              <a:spcBef>
                <a:spcPts val="0"/>
              </a:spcBef>
              <a:buNone/>
            </a:pPr>
            <a:r>
              <a:rPr lang="en-IN" sz="2600" b="1">
                <a:latin typeface="Times New Roman"/>
                <a:ea typeface="Cambria"/>
                <a:cs typeface="Times New Roman"/>
              </a:rPr>
              <a:t>Technical Challenges</a:t>
            </a:r>
          </a:p>
          <a:p>
            <a:r>
              <a:rPr lang="en-US" sz="2600" b="1">
                <a:latin typeface="Times New Roman"/>
                <a:cs typeface="Times New Roman"/>
              </a:rPr>
              <a:t>Manual data handling</a:t>
            </a:r>
            <a:r>
              <a:rPr lang="en-US" sz="2600">
                <a:latin typeface="Times New Roman"/>
                <a:cs typeface="Times New Roman"/>
              </a:rPr>
              <a:t> – Diet and patient data are recorded by hand instead of digitally.</a:t>
            </a:r>
          </a:p>
          <a:p>
            <a:r>
              <a:rPr lang="en-US" sz="2600" b="1">
                <a:latin typeface="Times New Roman"/>
                <a:cs typeface="Times New Roman"/>
              </a:rPr>
              <a:t>Lack of automated calculations</a:t>
            </a:r>
            <a:r>
              <a:rPr lang="en-US" sz="2600">
                <a:latin typeface="Times New Roman"/>
                <a:cs typeface="Times New Roman"/>
              </a:rPr>
              <a:t> – Nutrient and diet calculations are done manually, increasing errors.</a:t>
            </a:r>
            <a:endParaRPr lang="en-US" sz="2600">
              <a:latin typeface="Times New Roman"/>
            </a:endParaRPr>
          </a:p>
          <a:p>
            <a:r>
              <a:rPr lang="en-US" sz="2600" b="1">
                <a:latin typeface="Times New Roman"/>
                <a:cs typeface="Times New Roman"/>
              </a:rPr>
              <a:t>No Ayurvedic data modeling</a:t>
            </a:r>
            <a:r>
              <a:rPr lang="en-US" sz="2600">
                <a:latin typeface="Times New Roman"/>
                <a:cs typeface="Times New Roman"/>
              </a:rPr>
              <a:t> – Ayurvedic concepts like Rasa and digestion are not structured in databases.</a:t>
            </a:r>
            <a:endParaRPr lang="en-US" sz="2600">
              <a:latin typeface="Times New Roman"/>
            </a:endParaRPr>
          </a:p>
          <a:p>
            <a:r>
              <a:rPr lang="en-US" sz="2600" b="1">
                <a:latin typeface="Times New Roman"/>
                <a:cs typeface="Times New Roman"/>
              </a:rPr>
              <a:t>Limited food database support</a:t>
            </a:r>
            <a:r>
              <a:rPr lang="en-US" sz="2600">
                <a:latin typeface="Times New Roman"/>
                <a:cs typeface="Times New Roman"/>
              </a:rPr>
              <a:t> – Indian and Ayurvedic foods are not properly digitized.</a:t>
            </a:r>
            <a:endParaRPr lang="en-US" sz="2600">
              <a:latin typeface="Times New Roman"/>
            </a:endParaRPr>
          </a:p>
          <a:p>
            <a:r>
              <a:rPr lang="en-US" sz="2600" b="1">
                <a:latin typeface="Times New Roman"/>
                <a:cs typeface="Times New Roman"/>
              </a:rPr>
              <a:t>Poor scalability</a:t>
            </a:r>
            <a:r>
              <a:rPr lang="en-US" sz="2600">
                <a:latin typeface="Times New Roman"/>
                <a:cs typeface="Times New Roman"/>
              </a:rPr>
              <a:t> – Manual and semi-digital systems cannot handle large patient volumes.</a:t>
            </a:r>
            <a:endParaRPr lang="en-US" sz="2600">
              <a:latin typeface="Times New Roman"/>
            </a:endParaRPr>
          </a:p>
          <a:p>
            <a:r>
              <a:rPr lang="en-US" sz="2600" b="1">
                <a:latin typeface="Times New Roman"/>
                <a:cs typeface="Times New Roman"/>
              </a:rPr>
              <a:t>No system integration</a:t>
            </a:r>
            <a:r>
              <a:rPr lang="en-US" sz="2600">
                <a:latin typeface="Times New Roman"/>
                <a:cs typeface="Times New Roman"/>
              </a:rPr>
              <a:t> – Existing tools do not integrate with hospital or patient record systems.</a:t>
            </a:r>
            <a:endParaRPr lang="en-US" sz="2600">
              <a:latin typeface="Times New Roman"/>
            </a:endParaRPr>
          </a:p>
          <a:p>
            <a:r>
              <a:rPr lang="en-US" sz="2600" b="1">
                <a:latin typeface="Times New Roman"/>
                <a:cs typeface="Times New Roman"/>
              </a:rPr>
              <a:t>Data security limitations</a:t>
            </a:r>
            <a:r>
              <a:rPr lang="en-US" sz="2600">
                <a:latin typeface="Times New Roman"/>
                <a:cs typeface="Times New Roman"/>
              </a:rPr>
              <a:t> – Paper records lack proper security and access control.</a:t>
            </a:r>
            <a:endParaRPr lang="en-US" sz="2600">
              <a:latin typeface="Times New Roman"/>
            </a:endParaRPr>
          </a:p>
          <a:p>
            <a:pPr marL="76200" indent="0">
              <a:buNone/>
            </a:pPr>
            <a:endParaRPr lang="en-US" sz="2600" dirty="0">
              <a:latin typeface="Times New Roman"/>
              <a:cs typeface="Times New Roman"/>
            </a:endParaRPr>
          </a:p>
          <a:p>
            <a:pPr marL="76200" indent="0">
              <a:buNone/>
            </a:pPr>
            <a:r>
              <a:rPr lang="en-US" sz="2600" b="1">
                <a:latin typeface="Times New Roman"/>
                <a:ea typeface="Cambria"/>
                <a:cs typeface="Times New Roman"/>
              </a:rPr>
              <a:t>Problem Summary</a:t>
            </a:r>
            <a:endParaRPr lang="en-IN" sz="2600">
              <a:latin typeface="Times New Roman"/>
              <a:ea typeface="Cambria"/>
              <a:cs typeface="Times New Roman"/>
            </a:endParaRPr>
          </a:p>
          <a:p>
            <a:r>
              <a:rPr lang="en-US" sz="2600">
                <a:solidFill>
                  <a:schemeClr val="tx1"/>
                </a:solidFill>
                <a:latin typeface="Times New Roman"/>
                <a:cs typeface="Times New Roman"/>
              </a:rPr>
              <a:t>In summary, Ayurvedic diet planning is still largely dependent on manual processes that are slow, error-prone, and difficult to manage. Existing nutrition software solutions fail to align with Ayurvedic principles, making them unsuitable for Ayurvedic practitioners.</a:t>
            </a:r>
          </a:p>
          <a:p>
            <a:r>
              <a:rPr lang="en-US" sz="2600">
                <a:solidFill>
                  <a:schemeClr val="tx1"/>
                </a:solidFill>
                <a:latin typeface="Times New Roman"/>
                <a:cs typeface="Times New Roman"/>
              </a:rPr>
              <a:t>The lack of automation, standardized formats, and integrated patient management systems reduces efficiency and limits personalized care. Poor data storage and follow-up mechanisms further affect treatment continuity.</a:t>
            </a:r>
            <a:endParaRPr lang="en-US">
              <a:solidFill>
                <a:schemeClr val="tx1"/>
              </a:solidFill>
            </a:endParaRPr>
          </a:p>
          <a:p>
            <a:r>
              <a:rPr lang="en-US" sz="2600">
                <a:solidFill>
                  <a:schemeClr val="tx1"/>
                </a:solidFill>
                <a:latin typeface="Times New Roman"/>
                <a:cs typeface="Times New Roman"/>
              </a:rPr>
              <a:t>Therefore, there is a clear need for a dedicated, secure, and scalable digital solution that combines modern nutritional analysis with authentic Ayurvedic dietary concepts to support effective and holistic patient care.</a:t>
            </a:r>
          </a:p>
          <a:p>
            <a:pPr>
              <a:lnSpc>
                <a:spcPct val="150000"/>
              </a:lnSpc>
              <a:spcBef>
                <a:spcPts val="0"/>
              </a:spcBef>
            </a:pPr>
            <a:endParaRPr lang="en-US" sz="1800" dirty="0">
              <a:solidFill>
                <a:schemeClr val="tx1"/>
              </a:solidFill>
              <a:latin typeface="Times New Roman" panose="02020603050405020304" pitchFamily="18" charset="0"/>
              <a:cs typeface="Times New Roman" panose="02020603050405020304" pitchFamily="18" charset="0"/>
            </a:endParaRPr>
          </a:p>
          <a:p>
            <a:pPr marL="76200" indent="0">
              <a:lnSpc>
                <a:spcPct val="150000"/>
              </a:lnSpc>
              <a:spcBef>
                <a:spcPts val="0"/>
              </a:spcBef>
              <a:buNone/>
            </a:pPr>
            <a:endParaRPr lang="en-US" sz="1800" b="1">
              <a:latin typeface="Times New Roman" panose="02020603050405020304" pitchFamily="18" charset="0"/>
              <a:ea typeface="Cambria" panose="02040503050406030204" pitchFamily="18" charset="0"/>
              <a:cs typeface="Times New Roman" panose="02020603050405020304" pitchFamily="18" charset="0"/>
            </a:endParaRPr>
          </a:p>
          <a:p>
            <a:pPr marL="76200" indent="0">
              <a:buNone/>
            </a:pPr>
            <a:endParaRPr lang="en-IN"/>
          </a:p>
        </p:txBody>
      </p:sp>
    </p:spTree>
    <p:extLst>
      <p:ext uri="{BB962C8B-B14F-4D97-AF65-F5344CB8AC3E}">
        <p14:creationId xmlns:p14="http://schemas.microsoft.com/office/powerpoint/2010/main" val="1856095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342900" lvl="0" indent="-190500" algn="just">
              <a:buClr>
                <a:schemeClr val="dk1"/>
              </a:buClr>
              <a:buSzPct val="100000"/>
            </a:pPr>
            <a:r>
              <a:rPr lang="en-US">
                <a:latin typeface="Cambria" panose="02040503050406030204" pitchFamily="18" charset="0"/>
                <a:ea typeface="Cambria" panose="02040503050406030204" pitchFamily="18" charset="0"/>
              </a:rPr>
              <a:t>Technology Stack Components:</a:t>
            </a:r>
          </a:p>
        </p:txBody>
      </p:sp>
      <p:sp>
        <p:nvSpPr>
          <p:cNvPr id="3" name="Text Placeholder 2">
            <a:extLst>
              <a:ext uri="{FF2B5EF4-FFF2-40B4-BE49-F238E27FC236}">
                <a16:creationId xmlns:a16="http://schemas.microsoft.com/office/drawing/2014/main" id="{167D5502-A6B6-8DCB-9341-036DAD6E311D}"/>
              </a:ext>
            </a:extLst>
          </p:cNvPr>
          <p:cNvSpPr>
            <a:spLocks noGrp="1" noChangeArrowheads="1"/>
          </p:cNvSpPr>
          <p:nvPr>
            <p:ph type="body" idx="1"/>
          </p:nvPr>
        </p:nvSpPr>
        <p:spPr bwMode="auto">
          <a:xfrm>
            <a:off x="812800" y="894984"/>
            <a:ext cx="8382003" cy="516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sz="1400" b="1">
                <a:latin typeface="Times New Roman"/>
                <a:cs typeface="Times New Roman"/>
              </a:rPr>
              <a:t>I. Presentation Layer </a:t>
            </a:r>
          </a:p>
          <a:p>
            <a:r>
              <a:rPr lang="en-US" sz="1200">
                <a:latin typeface="Times New Roman"/>
                <a:cs typeface="Times New Roman"/>
              </a:rPr>
              <a:t>Web-based UI for Ayurvedic Dietitians </a:t>
            </a:r>
          </a:p>
          <a:p>
            <a:r>
              <a:rPr lang="en-US" sz="1200">
                <a:latin typeface="Times New Roman"/>
                <a:cs typeface="Times New Roman"/>
              </a:rPr>
              <a:t>Responsive interface for desktop &amp; tablet </a:t>
            </a:r>
          </a:p>
          <a:p>
            <a:r>
              <a:rPr lang="en-US" sz="1200">
                <a:latin typeface="Times New Roman"/>
                <a:cs typeface="Times New Roman"/>
              </a:rPr>
              <a:t>Printable diet charts for patients </a:t>
            </a:r>
          </a:p>
          <a:p>
            <a:pPr>
              <a:buNone/>
            </a:pPr>
            <a:r>
              <a:rPr lang="en-US" sz="1200" b="1">
                <a:latin typeface="Times New Roman"/>
                <a:cs typeface="Times New Roman"/>
              </a:rPr>
              <a:t>Tech: </a:t>
            </a:r>
          </a:p>
          <a:p>
            <a:pPr marL="76200" indent="0">
              <a:buNone/>
            </a:pPr>
            <a:r>
              <a:rPr lang="en-US" sz="1200">
                <a:latin typeface="Times New Roman"/>
                <a:cs typeface="Times New Roman"/>
              </a:rPr>
              <a:t>React.js + TypeScript </a:t>
            </a:r>
          </a:p>
          <a:p>
            <a:pPr>
              <a:buNone/>
            </a:pPr>
            <a:r>
              <a:rPr lang="en-US" sz="1400" b="1">
                <a:latin typeface="Times New Roman"/>
                <a:cs typeface="Times New Roman"/>
              </a:rPr>
              <a:t>II. Application Layer </a:t>
            </a:r>
          </a:p>
          <a:p>
            <a:r>
              <a:rPr lang="en-US" sz="1200">
                <a:latin typeface="Times New Roman"/>
                <a:cs typeface="Times New Roman"/>
              </a:rPr>
              <a:t>Patient Management Module </a:t>
            </a:r>
          </a:p>
          <a:p>
            <a:r>
              <a:rPr lang="en-US" sz="1200">
                <a:latin typeface="Times New Roman"/>
                <a:cs typeface="Times New Roman"/>
              </a:rPr>
              <a:t>Diet Chart Builder </a:t>
            </a:r>
          </a:p>
          <a:p>
            <a:r>
              <a:rPr lang="en-US" sz="1200">
                <a:latin typeface="Times New Roman"/>
                <a:cs typeface="Times New Roman"/>
              </a:rPr>
              <a:t>Recipe &amp; Portion Management </a:t>
            </a:r>
          </a:p>
          <a:p>
            <a:r>
              <a:rPr lang="en-US" sz="1200">
                <a:latin typeface="Times New Roman"/>
                <a:cs typeface="Times New Roman"/>
              </a:rPr>
              <a:t>User Roles (Doctor / Admin) </a:t>
            </a:r>
          </a:p>
          <a:p>
            <a:pPr>
              <a:buNone/>
            </a:pPr>
            <a:r>
              <a:rPr lang="en-US" sz="1200" b="1">
                <a:latin typeface="Times New Roman"/>
                <a:cs typeface="Times New Roman"/>
              </a:rPr>
              <a:t>Tech: </a:t>
            </a:r>
          </a:p>
          <a:p>
            <a:pPr marL="76200" indent="0">
              <a:buNone/>
            </a:pPr>
            <a:r>
              <a:rPr lang="en-US" sz="1200">
                <a:latin typeface="Times New Roman"/>
                <a:cs typeface="Times New Roman"/>
              </a:rPr>
              <a:t>Node.js + NestJS </a:t>
            </a:r>
          </a:p>
          <a:p>
            <a:pPr marL="76200" indent="0">
              <a:buNone/>
            </a:pPr>
            <a:r>
              <a:rPr lang="en-US" sz="1200">
                <a:latin typeface="Times New Roman"/>
                <a:cs typeface="Times New Roman"/>
              </a:rPr>
              <a:t>REST APIs </a:t>
            </a:r>
          </a:p>
          <a:p>
            <a:pPr>
              <a:buNone/>
            </a:pPr>
            <a:r>
              <a:rPr lang="en-US" sz="1400" b="1">
                <a:latin typeface="Times New Roman"/>
                <a:cs typeface="Times New Roman"/>
              </a:rPr>
              <a:t>III. Diet Rule Engine (CORE)</a:t>
            </a:r>
            <a:r>
              <a:rPr lang="en-US" sz="1400">
                <a:latin typeface="Times New Roman"/>
                <a:cs typeface="Times New Roman"/>
              </a:rPr>
              <a:t> </a:t>
            </a:r>
          </a:p>
          <a:p>
            <a:r>
              <a:rPr lang="en-US" sz="1200">
                <a:latin typeface="Times New Roman"/>
                <a:cs typeface="Times New Roman"/>
              </a:rPr>
              <a:t>Rule-based validation using Ayurvedic principles </a:t>
            </a:r>
          </a:p>
          <a:p>
            <a:r>
              <a:rPr lang="en-US" sz="1200">
                <a:latin typeface="Times New Roman"/>
                <a:cs typeface="Times New Roman"/>
              </a:rPr>
              <a:t>Dosha-based food inclusion/exclusion </a:t>
            </a:r>
          </a:p>
          <a:p>
            <a:r>
              <a:rPr lang="en-US" sz="1200">
                <a:latin typeface="Times New Roman"/>
                <a:cs typeface="Times New Roman"/>
              </a:rPr>
              <a:t>Agni-aware portion adjustment </a:t>
            </a:r>
          </a:p>
          <a:p>
            <a:pPr>
              <a:buNone/>
            </a:pPr>
            <a:r>
              <a:rPr lang="en-US" sz="1200" b="1">
                <a:latin typeface="Times New Roman"/>
                <a:cs typeface="Times New Roman"/>
              </a:rPr>
              <a:t>Tech: </a:t>
            </a:r>
          </a:p>
          <a:p>
            <a:pPr marL="76200" indent="0">
              <a:buNone/>
            </a:pPr>
            <a:r>
              <a:rPr lang="en-US" sz="1200">
                <a:latin typeface="Times New Roman"/>
                <a:cs typeface="Times New Roman"/>
              </a:rPr>
              <a:t>Custom rules engine (JSON / DSL-based) </a:t>
            </a:r>
          </a:p>
        </p:txBody>
      </p:sp>
    </p:spTree>
    <p:extLst>
      <p:ext uri="{BB962C8B-B14F-4D97-AF65-F5344CB8AC3E}">
        <p14:creationId xmlns:p14="http://schemas.microsoft.com/office/powerpoint/2010/main" val="1030816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22007-BCE6-003B-3322-4140B128FB88}"/>
              </a:ext>
            </a:extLst>
          </p:cNvPr>
          <p:cNvSpPr>
            <a:spLocks noGrp="1"/>
          </p:cNvSpPr>
          <p:nvPr>
            <p:ph type="title"/>
          </p:nvPr>
        </p:nvSpPr>
        <p:spPr/>
        <p:txBody>
          <a:bodyPr/>
          <a:lstStyle/>
          <a:p>
            <a:r>
              <a:rPr lang="en-US">
                <a:latin typeface="Cambria" panose="02040503050406030204" pitchFamily="18" charset="0"/>
                <a:ea typeface="Cambria" panose="02040503050406030204" pitchFamily="18" charset="0"/>
              </a:rPr>
              <a:t>Technology Stack Components:</a:t>
            </a:r>
            <a:endParaRPr lang="LID4096"/>
          </a:p>
        </p:txBody>
      </p:sp>
      <p:sp>
        <p:nvSpPr>
          <p:cNvPr id="3" name="Text Placeholder 2">
            <a:extLst>
              <a:ext uri="{FF2B5EF4-FFF2-40B4-BE49-F238E27FC236}">
                <a16:creationId xmlns:a16="http://schemas.microsoft.com/office/drawing/2014/main" id="{5069AE3E-C861-26D6-B898-9202397F5D36}"/>
              </a:ext>
            </a:extLst>
          </p:cNvPr>
          <p:cNvSpPr>
            <a:spLocks noGrp="1"/>
          </p:cNvSpPr>
          <p:nvPr>
            <p:ph type="body" idx="1"/>
          </p:nvPr>
        </p:nvSpPr>
        <p:spPr>
          <a:xfrm>
            <a:off x="764572" y="950090"/>
            <a:ext cx="10668000" cy="4953000"/>
          </a:xfrm>
        </p:spPr>
        <p:txBody>
          <a:bodyPr spcFirstLastPara="1" wrap="square" lIns="91425" tIns="45700" rIns="91425" bIns="45700" anchor="t" anchorCtr="0">
            <a:noAutofit/>
          </a:bodyPr>
          <a:lstStyle/>
          <a:p>
            <a:pPr>
              <a:buNone/>
            </a:pPr>
            <a:r>
              <a:rPr lang="en-US" sz="1400" b="1">
                <a:latin typeface="Times New Roman"/>
                <a:cs typeface="Times New Roman"/>
              </a:rPr>
              <a:t>IV. Food &amp; Nutrition Knowledge Base </a:t>
            </a:r>
          </a:p>
          <a:p>
            <a:r>
              <a:rPr lang="en-US" sz="1200">
                <a:latin typeface="Times New Roman"/>
                <a:cs typeface="Times New Roman"/>
              </a:rPr>
              <a:t>Structured food database </a:t>
            </a:r>
          </a:p>
          <a:p>
            <a:r>
              <a:rPr lang="en-US" sz="1200">
                <a:latin typeface="Times New Roman"/>
                <a:cs typeface="Times New Roman"/>
              </a:rPr>
              <a:t>Modern nutrition + Ayurvedic attributes </a:t>
            </a:r>
          </a:p>
          <a:p>
            <a:r>
              <a:rPr lang="en-US" sz="1200">
                <a:latin typeface="Times New Roman"/>
                <a:cs typeface="Times New Roman"/>
              </a:rPr>
              <a:t>Extensible to 8,000+ items</a:t>
            </a:r>
          </a:p>
          <a:p>
            <a:pPr>
              <a:buNone/>
            </a:pPr>
            <a:r>
              <a:rPr lang="en-US" sz="1200" b="1">
                <a:latin typeface="Times New Roman"/>
                <a:cs typeface="Times New Roman"/>
              </a:rPr>
              <a:t>Tech: </a:t>
            </a:r>
          </a:p>
          <a:p>
            <a:pPr marL="76200" indent="0">
              <a:buNone/>
            </a:pPr>
            <a:r>
              <a:rPr lang="en-US" sz="1200">
                <a:latin typeface="Times New Roman"/>
                <a:cs typeface="Times New Roman"/>
              </a:rPr>
              <a:t>PostgreSQL </a:t>
            </a:r>
          </a:p>
          <a:p>
            <a:pPr>
              <a:buNone/>
            </a:pPr>
            <a:r>
              <a:rPr lang="en-US" sz="1400" b="1">
                <a:latin typeface="Times New Roman"/>
                <a:cs typeface="Times New Roman"/>
              </a:rPr>
              <a:t>V. Reporting &amp; Output Layer </a:t>
            </a:r>
          </a:p>
          <a:p>
            <a:r>
              <a:rPr lang="en-US" sz="1200">
                <a:latin typeface="Times New Roman"/>
                <a:cs typeface="Times New Roman"/>
              </a:rPr>
              <a:t>Auto-generated diet charts </a:t>
            </a:r>
          </a:p>
          <a:p>
            <a:r>
              <a:rPr lang="en-US" sz="1200">
                <a:latin typeface="Times New Roman"/>
                <a:cs typeface="Times New Roman"/>
              </a:rPr>
              <a:t>Nutrient summaries</a:t>
            </a:r>
          </a:p>
          <a:p>
            <a:r>
              <a:rPr lang="en-US" sz="1200">
                <a:latin typeface="Times New Roman"/>
                <a:cs typeface="Times New Roman"/>
              </a:rPr>
              <a:t>Doctor &amp; patient-friendly formats </a:t>
            </a:r>
          </a:p>
          <a:p>
            <a:pPr>
              <a:buNone/>
            </a:pPr>
            <a:r>
              <a:rPr lang="en-US" sz="1200" b="1">
                <a:latin typeface="Times New Roman"/>
                <a:cs typeface="Times New Roman"/>
              </a:rPr>
              <a:t>Tech: </a:t>
            </a:r>
          </a:p>
          <a:p>
            <a:pPr>
              <a:buNone/>
            </a:pPr>
            <a:r>
              <a:rPr lang="en-US" sz="1200">
                <a:latin typeface="Times New Roman"/>
                <a:cs typeface="Times New Roman"/>
              </a:rPr>
              <a:t>PDF generation (server-side) </a:t>
            </a:r>
          </a:p>
          <a:p>
            <a:pPr>
              <a:buNone/>
            </a:pPr>
            <a:r>
              <a:rPr lang="en-US" sz="1400" b="1">
                <a:latin typeface="Times New Roman"/>
                <a:cs typeface="Times New Roman"/>
              </a:rPr>
              <a:t>VI. Security &amp; Compliance </a:t>
            </a:r>
          </a:p>
          <a:p>
            <a:r>
              <a:rPr lang="en-US" sz="1200">
                <a:latin typeface="Times New Roman"/>
                <a:cs typeface="Times New Roman"/>
              </a:rPr>
              <a:t>Role-based access</a:t>
            </a:r>
          </a:p>
          <a:p>
            <a:r>
              <a:rPr lang="en-US" sz="1200">
                <a:latin typeface="Times New Roman"/>
                <a:cs typeface="Times New Roman"/>
              </a:rPr>
              <a:t>Encrypted patient data </a:t>
            </a:r>
          </a:p>
          <a:p>
            <a:r>
              <a:rPr lang="en-US" sz="1200">
                <a:latin typeface="Times New Roman"/>
                <a:cs typeface="Times New Roman"/>
              </a:rPr>
              <a:t>Audit logs</a:t>
            </a:r>
          </a:p>
          <a:p>
            <a:pPr>
              <a:buNone/>
            </a:pPr>
            <a:r>
              <a:rPr lang="en-US" sz="1600" b="1">
                <a:latin typeface="Times New Roman"/>
                <a:cs typeface="Times New Roman"/>
              </a:rPr>
              <a:t>VII. Deployment</a:t>
            </a:r>
            <a:endParaRPr lang="en-US" sz="1600" b="1">
              <a:latin typeface="Times New Roman"/>
            </a:endParaRPr>
          </a:p>
          <a:p>
            <a:r>
              <a:rPr lang="en-US" sz="1400">
                <a:latin typeface="Times New Roman"/>
                <a:cs typeface="Times New Roman"/>
              </a:rPr>
              <a:t>Cloud-hosted (AWS / Azure)</a:t>
            </a:r>
            <a:endParaRPr lang="en-US" sz="1400">
              <a:latin typeface="Times New Roman"/>
            </a:endParaRPr>
          </a:p>
          <a:p>
            <a:r>
              <a:rPr lang="en-US" sz="1400">
                <a:latin typeface="Times New Roman"/>
                <a:cs typeface="Times New Roman"/>
              </a:rPr>
              <a:t>Scalable backend</a:t>
            </a:r>
            <a:endParaRPr lang="en-US" sz="1400">
              <a:latin typeface="Times New Roman"/>
            </a:endParaRPr>
          </a:p>
          <a:p>
            <a:pPr marL="76200" indent="0">
              <a:buNone/>
            </a:pPr>
            <a:endParaRPr lang="en-US" sz="1400">
              <a:latin typeface="Times New Roman"/>
              <a:cs typeface="Times New Roman"/>
            </a:endParaRPr>
          </a:p>
        </p:txBody>
      </p:sp>
    </p:spTree>
    <p:extLst>
      <p:ext uri="{BB962C8B-B14F-4D97-AF65-F5344CB8AC3E}">
        <p14:creationId xmlns:p14="http://schemas.microsoft.com/office/powerpoint/2010/main" val="2132571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2">
            <a:extLst>
              <a:ext uri="{FF2B5EF4-FFF2-40B4-BE49-F238E27FC236}">
                <a16:creationId xmlns:a16="http://schemas.microsoft.com/office/drawing/2014/main" id="{B417EC67-2367-755D-CB0B-751DBF4D2F1A}"/>
              </a:ext>
            </a:extLst>
          </p:cNvPr>
          <p:cNvSpPr>
            <a:spLocks noChangeAspect="1" noChangeArrowheads="1"/>
          </p:cNvSpPr>
          <p:nvPr/>
        </p:nvSpPr>
        <p:spPr bwMode="auto">
          <a:xfrm>
            <a:off x="3904488" y="3276600"/>
            <a:ext cx="2343912" cy="234391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itle 3">
            <a:extLst>
              <a:ext uri="{FF2B5EF4-FFF2-40B4-BE49-F238E27FC236}">
                <a16:creationId xmlns:a16="http://schemas.microsoft.com/office/drawing/2014/main" id="{4AFF12D2-4036-A583-8FE6-BE83FA568E26}"/>
              </a:ext>
            </a:extLst>
          </p:cNvPr>
          <p:cNvSpPr>
            <a:spLocks noGrp="1"/>
          </p:cNvSpPr>
          <p:nvPr>
            <p:ph type="title"/>
          </p:nvPr>
        </p:nvSpPr>
        <p:spPr/>
        <p:txBody>
          <a:bodyPr/>
          <a:lstStyle/>
          <a:p>
            <a:r>
              <a:rPr lang="en-US"/>
              <a:t>Basic Flow of the Project</a:t>
            </a:r>
            <a:endParaRPr lang="LID4096"/>
          </a:p>
        </p:txBody>
      </p:sp>
      <p:pic>
        <p:nvPicPr>
          <p:cNvPr id="3" name="Picture 2" descr="A diagram of a health care system&#10;&#10;AI-generated content may be incorrect.">
            <a:extLst>
              <a:ext uri="{FF2B5EF4-FFF2-40B4-BE49-F238E27FC236}">
                <a16:creationId xmlns:a16="http://schemas.microsoft.com/office/drawing/2014/main" id="{2A276FF1-CE77-3259-D2DD-E7F9BCF6ADA6}"/>
              </a:ext>
            </a:extLst>
          </p:cNvPr>
          <p:cNvPicPr>
            <a:picLocks noChangeAspect="1"/>
          </p:cNvPicPr>
          <p:nvPr/>
        </p:nvPicPr>
        <p:blipFill>
          <a:blip r:embed="rId2"/>
          <a:stretch>
            <a:fillRect/>
          </a:stretch>
        </p:blipFill>
        <p:spPr>
          <a:xfrm>
            <a:off x="2462514" y="1089949"/>
            <a:ext cx="7257327" cy="5189317"/>
          </a:xfrm>
          <a:prstGeom prst="rect">
            <a:avLst/>
          </a:prstGeom>
        </p:spPr>
      </p:pic>
    </p:spTree>
    <p:extLst>
      <p:ext uri="{BB962C8B-B14F-4D97-AF65-F5344CB8AC3E}">
        <p14:creationId xmlns:p14="http://schemas.microsoft.com/office/powerpoint/2010/main" val="3936898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7BB02-7E39-C49D-DFBE-07F79E2E7551}"/>
              </a:ext>
            </a:extLst>
          </p:cNvPr>
          <p:cNvSpPr>
            <a:spLocks noGrp="1"/>
          </p:cNvSpPr>
          <p:nvPr>
            <p:ph type="title"/>
          </p:nvPr>
        </p:nvSpPr>
        <p:spPr/>
        <p:txBody>
          <a:bodyPr/>
          <a:lstStyle/>
          <a:p>
            <a:r>
              <a:rPr lang="en-US">
                <a:latin typeface="Cambria" panose="02040503050406030204" pitchFamily="18" charset="0"/>
                <a:ea typeface="Cambria" panose="02040503050406030204" pitchFamily="18" charset="0"/>
              </a:rPr>
              <a:t>Innovation / Novel Contributions</a:t>
            </a:r>
            <a:endParaRPr lang="en-IN"/>
          </a:p>
        </p:txBody>
      </p:sp>
      <p:sp>
        <p:nvSpPr>
          <p:cNvPr id="3" name="Text Placeholder 2">
            <a:extLst>
              <a:ext uri="{FF2B5EF4-FFF2-40B4-BE49-F238E27FC236}">
                <a16:creationId xmlns:a16="http://schemas.microsoft.com/office/drawing/2014/main" id="{5E71D799-2712-B019-0BD1-7631DBC6AE20}"/>
              </a:ext>
            </a:extLst>
          </p:cNvPr>
          <p:cNvSpPr>
            <a:spLocks noGrp="1"/>
          </p:cNvSpPr>
          <p:nvPr>
            <p:ph type="body" idx="1"/>
          </p:nvPr>
        </p:nvSpPr>
        <p:spPr>
          <a:xfrm>
            <a:off x="762000" y="952500"/>
            <a:ext cx="10668000" cy="4953000"/>
          </a:xfrm>
        </p:spPr>
        <p:txBody>
          <a:bodyPr>
            <a:normAutofit/>
          </a:bodyPr>
          <a:lstStyle/>
          <a:p>
            <a:pPr marL="76200" indent="0">
              <a:lnSpc>
                <a:spcPct val="110000"/>
              </a:lnSpc>
              <a:spcBef>
                <a:spcPts val="0"/>
              </a:spcBef>
              <a:buNone/>
            </a:pPr>
            <a:br>
              <a:rPr lang="en-IN" sz="1600">
                <a:latin typeface="Cambria" panose="02040503050406030204" pitchFamily="18" charset="0"/>
                <a:ea typeface="Cambria" panose="02040503050406030204" pitchFamily="18" charset="0"/>
              </a:rPr>
            </a:br>
            <a:endParaRPr lang="en-IN" sz="1600" b="1">
              <a:latin typeface="Cambria" panose="02040503050406030204" pitchFamily="18" charset="0"/>
              <a:ea typeface="Cambria" panose="02040503050406030204" pitchFamily="18" charset="0"/>
            </a:endParaRPr>
          </a:p>
        </p:txBody>
      </p:sp>
      <p:sp>
        <p:nvSpPr>
          <p:cNvPr id="6" name="Rectangle 2">
            <a:extLst>
              <a:ext uri="{FF2B5EF4-FFF2-40B4-BE49-F238E27FC236}">
                <a16:creationId xmlns:a16="http://schemas.microsoft.com/office/drawing/2014/main" id="{91E89637-A750-E7F9-7CF6-A8065DF58228}"/>
              </a:ext>
            </a:extLst>
          </p:cNvPr>
          <p:cNvSpPr>
            <a:spLocks noChangeArrowheads="1"/>
          </p:cNvSpPr>
          <p:nvPr/>
        </p:nvSpPr>
        <p:spPr bwMode="auto">
          <a:xfrm>
            <a:off x="713772" y="892768"/>
            <a:ext cx="107188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Char char="•"/>
            </a:pPr>
            <a:r>
              <a:rPr lang="en-US" sz="1800" b="1">
                <a:solidFill>
                  <a:schemeClr val="tx1"/>
                </a:solidFill>
                <a:latin typeface="Times New Roman"/>
              </a:rPr>
              <a:t>Ayurveda-Centric Digital Diet Framework</a:t>
            </a:r>
          </a:p>
          <a:p>
            <a:r>
              <a:rPr lang="en-US" sz="1800">
                <a:solidFill>
                  <a:schemeClr val="tx1"/>
                </a:solidFill>
                <a:latin typeface="Times New Roman"/>
              </a:rPr>
              <a:t>Introduces a structured digital representation of Ayurvedic dietary principles (Rasa, Guna, Virya, Digestibility) integrated with modern nutritional science.</a:t>
            </a:r>
          </a:p>
          <a:p>
            <a:pPr marL="285750" indent="-285750">
              <a:buChar char="•"/>
            </a:pPr>
            <a:r>
              <a:rPr lang="en-US" sz="1800" b="1">
                <a:solidFill>
                  <a:schemeClr val="tx1"/>
                </a:solidFill>
                <a:latin typeface="Times New Roman"/>
              </a:rPr>
              <a:t>Rule-Based Ayurvedic Diet Recommendation Engine</a:t>
            </a:r>
          </a:p>
          <a:p>
            <a:r>
              <a:rPr lang="en-US" sz="1800">
                <a:solidFill>
                  <a:schemeClr val="tx1"/>
                </a:solidFill>
                <a:latin typeface="Times New Roman"/>
              </a:rPr>
              <a:t>Implements a transparent, explainable rule engine that generates diet charts based on Dosha balance, Agni status, and clinical conditions—avoiding black-box automation.</a:t>
            </a:r>
          </a:p>
          <a:p>
            <a:pPr marL="285750" indent="-285750">
              <a:buChar char="•"/>
            </a:pPr>
            <a:r>
              <a:rPr lang="en-US" sz="1800" b="1">
                <a:solidFill>
                  <a:schemeClr val="tx1"/>
                </a:solidFill>
                <a:latin typeface="Times New Roman"/>
              </a:rPr>
              <a:t>Integrated Nutrient + Ayurvedic Food Database</a:t>
            </a:r>
          </a:p>
          <a:p>
            <a:r>
              <a:rPr lang="en-US" sz="1800">
                <a:solidFill>
                  <a:schemeClr val="tx1"/>
                </a:solidFill>
                <a:latin typeface="Times New Roman"/>
              </a:rPr>
              <a:t>Combines macro/micro-nutrient analysis with Ayurvedic food properties in a unified, extensible database suitable for Indian and multicultural diets.</a:t>
            </a:r>
          </a:p>
          <a:p>
            <a:pPr marL="285750" indent="-285750">
              <a:buChar char="•"/>
            </a:pPr>
            <a:r>
              <a:rPr lang="en-US" sz="1800" b="1">
                <a:solidFill>
                  <a:schemeClr val="tx1"/>
                </a:solidFill>
                <a:latin typeface="Times New Roman"/>
              </a:rPr>
              <a:t>Automated Yet Doctor-Controlled Diet Chart Generation</a:t>
            </a:r>
          </a:p>
          <a:p>
            <a:r>
              <a:rPr lang="en-US" sz="1800">
                <a:solidFill>
                  <a:schemeClr val="tx1"/>
                </a:solidFill>
                <a:latin typeface="Times New Roman"/>
              </a:rPr>
              <a:t>System automates meal-wise diet planning while preserving dietitian authority through manual review and customization.</a:t>
            </a:r>
          </a:p>
          <a:p>
            <a:pPr marL="285750" indent="-285750">
              <a:buChar char="•"/>
            </a:pPr>
            <a:r>
              <a:rPr lang="en-US" sz="1800" b="1">
                <a:solidFill>
                  <a:schemeClr val="tx1"/>
                </a:solidFill>
                <a:latin typeface="Times New Roman"/>
              </a:rPr>
              <a:t>Recipe-Level Nutrient &amp; Ayurveda Analysis</a:t>
            </a:r>
          </a:p>
          <a:p>
            <a:r>
              <a:rPr lang="en-US" sz="1800">
                <a:solidFill>
                  <a:schemeClr val="tx1"/>
                </a:solidFill>
                <a:latin typeface="Times New Roman"/>
              </a:rPr>
              <a:t>Moves beyond food items to recipe-based diet charts, enabling realistic meal planning with accurate nutrient and Ayurvedic assessment.</a:t>
            </a:r>
          </a:p>
          <a:p>
            <a:pPr marL="285750" indent="-285750">
              <a:buChar char="•"/>
            </a:pPr>
            <a:r>
              <a:rPr lang="en-US" sz="1800" b="1">
                <a:solidFill>
                  <a:schemeClr val="tx1"/>
                </a:solidFill>
                <a:latin typeface="Times New Roman"/>
              </a:rPr>
              <a:t>Clinical Workflow-Aligned Design</a:t>
            </a:r>
          </a:p>
          <a:p>
            <a:r>
              <a:rPr lang="en-US" sz="1800">
                <a:solidFill>
                  <a:schemeClr val="tx1"/>
                </a:solidFill>
                <a:latin typeface="Times New Roman"/>
              </a:rPr>
              <a:t>Designed to mirror real Ayurvedic hospital workflows, reducing manual effort, improving consistency, and enabling scalable patient diet management. </a:t>
            </a:r>
          </a:p>
        </p:txBody>
      </p:sp>
    </p:spTree>
    <p:extLst>
      <p:ext uri="{BB962C8B-B14F-4D97-AF65-F5344CB8AC3E}">
        <p14:creationId xmlns:p14="http://schemas.microsoft.com/office/powerpoint/2010/main" val="2235139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err="1">
                <a:latin typeface="Cambria" panose="02040503050406030204" pitchFamily="18" charset="0"/>
                <a:ea typeface="Cambria" panose="02040503050406030204" pitchFamily="18" charset="0"/>
              </a:rPr>
              <a:t>Github</a:t>
            </a:r>
            <a:r>
              <a:rPr lang="en-US">
                <a:latin typeface="Cambria" panose="02040503050406030204" pitchFamily="18" charset="0"/>
                <a:ea typeface="Cambria" panose="02040503050406030204" pitchFamily="18" charset="0"/>
              </a:rPr>
              <a:t> Link</a:t>
            </a:r>
          </a:p>
        </p:txBody>
      </p:sp>
      <p:sp>
        <p:nvSpPr>
          <p:cNvPr id="3" name="Text Placeholder 2">
            <a:extLst>
              <a:ext uri="{FF2B5EF4-FFF2-40B4-BE49-F238E27FC236}">
                <a16:creationId xmlns:a16="http://schemas.microsoft.com/office/drawing/2014/main" id="{D0A55473-736C-8060-CFB6-C0DC0D8D96AE}"/>
              </a:ext>
            </a:extLst>
          </p:cNvPr>
          <p:cNvSpPr>
            <a:spLocks noGrp="1"/>
          </p:cNvSpPr>
          <p:nvPr>
            <p:ph type="body" idx="1"/>
          </p:nvPr>
        </p:nvSpPr>
        <p:spPr/>
        <p:txBody>
          <a:bodyPr/>
          <a:lstStyle/>
          <a:p>
            <a:pPr marL="76200" indent="0">
              <a:buNone/>
            </a:pPr>
            <a:r>
              <a:rPr lang="en-US">
                <a:latin typeface="Times New Roman"/>
              </a:rPr>
              <a:t>https://github.com/prjawal21/cloud-based-ayurvedic-diet-system</a:t>
            </a:r>
          </a:p>
        </p:txBody>
      </p:sp>
    </p:spTree>
    <p:extLst>
      <p:ext uri="{BB962C8B-B14F-4D97-AF65-F5344CB8AC3E}">
        <p14:creationId xmlns:p14="http://schemas.microsoft.com/office/powerpoint/2010/main" val="2856357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a:latin typeface="Cambria" panose="02040503050406030204" pitchFamily="18" charset="0"/>
                <a:ea typeface="Cambria" panose="02040503050406030204" pitchFamily="18" charset="0"/>
              </a:rPr>
              <a:t>Timeline of the Project (Gantt Chart)</a:t>
            </a:r>
            <a:endParaRPr>
              <a:latin typeface="Cambria" panose="02040503050406030204" pitchFamily="18" charset="0"/>
              <a:ea typeface="Cambria" panose="02040503050406030204" pitchFamily="18" charset="0"/>
            </a:endParaRPr>
          </a:p>
        </p:txBody>
      </p:sp>
      <p:pic>
        <p:nvPicPr>
          <p:cNvPr id="2" name="Picture 1" descr="A graph of progress on a white surface&#10;&#10;AI-generated content may be incorrect.">
            <a:extLst>
              <a:ext uri="{FF2B5EF4-FFF2-40B4-BE49-F238E27FC236}">
                <a16:creationId xmlns:a16="http://schemas.microsoft.com/office/drawing/2014/main" id="{50EE07F5-D472-BD47-B1AF-FC086E587D7F}"/>
              </a:ext>
            </a:extLst>
          </p:cNvPr>
          <p:cNvPicPr>
            <a:picLocks noChangeAspect="1"/>
          </p:cNvPicPr>
          <p:nvPr/>
        </p:nvPicPr>
        <p:blipFill>
          <a:blip r:embed="rId3"/>
          <a:srcRect l="420" t="957" r="-7692" b="4993"/>
          <a:stretch>
            <a:fillRect/>
          </a:stretch>
        </p:blipFill>
        <p:spPr>
          <a:xfrm>
            <a:off x="1827770" y="916460"/>
            <a:ext cx="8637200" cy="5010616"/>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a:latin typeface="Cambria" panose="02040503050406030204" pitchFamily="18" charset="0"/>
                <a:ea typeface="Cambria" panose="02040503050406030204" pitchFamily="18" charset="0"/>
              </a:rPr>
              <a:t>References (IEEE Paper format)</a:t>
            </a:r>
            <a:endParaRPr>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2B65DBCC-369A-457D-011A-39DC57F2CFF7}"/>
              </a:ext>
            </a:extLst>
          </p:cNvPr>
          <p:cNvSpPr>
            <a:spLocks noGrp="1" noChangeArrowheads="1"/>
          </p:cNvSpPr>
          <p:nvPr>
            <p:ph type="body" idx="1"/>
          </p:nvPr>
        </p:nvSpPr>
        <p:spPr bwMode="auto">
          <a:xfrm>
            <a:off x="812800" y="942357"/>
            <a:ext cx="10613710" cy="4980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US" sz="2000" b="1">
                <a:latin typeface="Times New Roman"/>
              </a:rPr>
              <a:t>1. Wedaduru Disease Screening </a:t>
            </a:r>
            <a:r>
              <a:rPr lang="en-US" sz="2000" b="1" dirty="0">
                <a:latin typeface="Times New Roman"/>
              </a:rPr>
              <a:t>System</a:t>
            </a:r>
          </a:p>
          <a:p>
            <a:r>
              <a:rPr lang="en-US" sz="1600" b="1" dirty="0">
                <a:solidFill>
                  <a:schemeClr val="tx1"/>
                </a:solidFill>
                <a:latin typeface="Times New Roman"/>
                <a:cs typeface="Times New Roman"/>
              </a:rPr>
              <a:t>Title</a:t>
            </a:r>
            <a:r>
              <a:rPr lang="en-US" sz="1600" dirty="0">
                <a:solidFill>
                  <a:schemeClr val="tx1"/>
                </a:solidFill>
                <a:latin typeface="Times New Roman"/>
                <a:cs typeface="Times New Roman"/>
              </a:rPr>
              <a:t>: "Wedaduru - An Intelligent Ayurvedic Disease Screening and Diet Recommendation System"</a:t>
            </a:r>
            <a:br>
              <a:rPr lang="en-US" sz="1600" dirty="0">
                <a:latin typeface="Times New Roman"/>
                <a:cs typeface="Times New Roman"/>
              </a:rPr>
            </a:br>
            <a:r>
              <a:rPr lang="en-US" sz="1600" dirty="0">
                <a:solidFill>
                  <a:schemeClr val="tx1"/>
                </a:solidFill>
                <a:latin typeface="Times New Roman"/>
                <a:cs typeface="Times New Roman"/>
              </a:rPr>
              <a:t> </a:t>
            </a:r>
            <a:r>
              <a:rPr lang="en-US" sz="1600" b="1" dirty="0">
                <a:solidFill>
                  <a:schemeClr val="tx1"/>
                </a:solidFill>
                <a:latin typeface="Times New Roman"/>
                <a:cs typeface="Times New Roman"/>
              </a:rPr>
              <a:t>Citation</a:t>
            </a:r>
            <a:r>
              <a:rPr lang="en-US" sz="1600" dirty="0">
                <a:solidFill>
                  <a:schemeClr val="tx1"/>
                </a:solidFill>
                <a:latin typeface="Times New Roman"/>
                <a:cs typeface="Times New Roman"/>
              </a:rPr>
              <a:t>: Y. Amarasekara et al., 2020 IEEE International Conference on, DOI: </a:t>
            </a:r>
            <a:r>
              <a:rPr lang="en-US" sz="1600">
                <a:solidFill>
                  <a:schemeClr val="tx1"/>
                </a:solidFill>
                <a:latin typeface="Times New Roman"/>
                <a:cs typeface="Times New Roman"/>
              </a:rPr>
              <a:t>10.1109/ICAC49085.2020.9103410 </a:t>
            </a:r>
            <a:endParaRPr lang="en-US" sz="1600" dirty="0">
              <a:solidFill>
                <a:schemeClr val="tx1"/>
              </a:solidFill>
              <a:latin typeface="Times New Roman"/>
              <a:cs typeface="Times New Roman"/>
            </a:endParaRPr>
          </a:p>
          <a:p>
            <a:pPr marL="76200" indent="0">
              <a:buNone/>
            </a:pPr>
            <a:r>
              <a:rPr lang="en-US" sz="2000" b="1">
                <a:latin typeface="Times New Roman"/>
              </a:rPr>
              <a:t>2. AI Methodology for Ayurveda</a:t>
            </a:r>
            <a:endParaRPr lang="en-US" sz="2000" b="1" dirty="0">
              <a:latin typeface="Times New Roman"/>
            </a:endParaRPr>
          </a:p>
          <a:p>
            <a:r>
              <a:rPr lang="en-US" sz="1600" b="1" dirty="0">
                <a:solidFill>
                  <a:schemeClr val="tx1"/>
                </a:solidFill>
                <a:latin typeface="Times New Roman"/>
                <a:cs typeface="Times New Roman"/>
              </a:rPr>
              <a:t>Title</a:t>
            </a:r>
            <a:r>
              <a:rPr lang="en-US" sz="1600" dirty="0">
                <a:solidFill>
                  <a:schemeClr val="tx1"/>
                </a:solidFill>
                <a:latin typeface="Times New Roman"/>
                <a:cs typeface="Times New Roman"/>
              </a:rPr>
              <a:t>: "Methodology for Development of Artificial Intelligence Models in Ayurveda"</a:t>
            </a:r>
            <a:br>
              <a:rPr lang="en-US" sz="1600" dirty="0">
                <a:latin typeface="Times New Roman"/>
                <a:cs typeface="Times New Roman"/>
              </a:rPr>
            </a:br>
            <a:r>
              <a:rPr lang="en-US" sz="1600" dirty="0">
                <a:solidFill>
                  <a:schemeClr val="tx1"/>
                </a:solidFill>
                <a:latin typeface="Times New Roman"/>
                <a:cs typeface="Times New Roman"/>
              </a:rPr>
              <a:t> </a:t>
            </a:r>
            <a:r>
              <a:rPr lang="en-US" sz="1600" b="1" dirty="0">
                <a:solidFill>
                  <a:schemeClr val="tx1"/>
                </a:solidFill>
                <a:latin typeface="Times New Roman"/>
                <a:cs typeface="Times New Roman"/>
              </a:rPr>
              <a:t>Citation</a:t>
            </a:r>
            <a:r>
              <a:rPr lang="en-US" sz="1600" dirty="0">
                <a:solidFill>
                  <a:schemeClr val="tx1"/>
                </a:solidFill>
                <a:latin typeface="Times New Roman"/>
                <a:cs typeface="Times New Roman"/>
              </a:rPr>
              <a:t>: S. Yenishetti et al., 2024 IEEE 9th International Conference for Convergence in Technology (I2CT), DOI: </a:t>
            </a:r>
            <a:r>
              <a:rPr lang="en-US" sz="1600">
                <a:solidFill>
                  <a:schemeClr val="tx1"/>
                </a:solidFill>
                <a:latin typeface="Times New Roman"/>
                <a:cs typeface="Times New Roman"/>
              </a:rPr>
              <a:t>10.1109/I2CT61223.2024.10543901 </a:t>
            </a:r>
            <a:endParaRPr lang="en-US" sz="1600" dirty="0">
              <a:solidFill>
                <a:schemeClr val="tx1"/>
              </a:solidFill>
              <a:latin typeface="Times New Roman"/>
              <a:cs typeface="Times New Roman"/>
            </a:endParaRPr>
          </a:p>
          <a:p>
            <a:pPr marL="76200" indent="0">
              <a:buNone/>
            </a:pPr>
            <a:r>
              <a:rPr lang="en-US" sz="2000" b="1">
                <a:latin typeface="Times New Roman"/>
              </a:rPr>
              <a:t>3. Ayurvedic Herbs Prediction</a:t>
            </a:r>
          </a:p>
          <a:p>
            <a:r>
              <a:rPr lang="en-US" sz="1600" b="1">
                <a:solidFill>
                  <a:schemeClr val="tx1"/>
                </a:solidFill>
                <a:latin typeface="Times New Roman"/>
                <a:cs typeface="Times New Roman"/>
              </a:rPr>
              <a:t>Title</a:t>
            </a:r>
            <a:r>
              <a:rPr lang="en-US" sz="1600">
                <a:solidFill>
                  <a:schemeClr val="tx1"/>
                </a:solidFill>
                <a:latin typeface="Times New Roman"/>
                <a:cs typeface="Times New Roman"/>
              </a:rPr>
              <a:t>: "Prediction of Ayurvedic Herbs for Specific Diseases by Classification Technique"</a:t>
            </a:r>
            <a:br>
              <a:rPr lang="en-US" sz="1600" dirty="0">
                <a:latin typeface="Times New Roman"/>
                <a:cs typeface="Times New Roman"/>
              </a:rPr>
            </a:br>
            <a:r>
              <a:rPr lang="en-US" sz="1600" dirty="0">
                <a:solidFill>
                  <a:schemeClr val="tx1"/>
                </a:solidFill>
                <a:latin typeface="Times New Roman"/>
                <a:cs typeface="Times New Roman"/>
              </a:rPr>
              <a:t> </a:t>
            </a:r>
            <a:r>
              <a:rPr lang="en-US" sz="1600" b="1">
                <a:solidFill>
                  <a:schemeClr val="tx1"/>
                </a:solidFill>
                <a:latin typeface="Times New Roman"/>
                <a:cs typeface="Times New Roman"/>
              </a:rPr>
              <a:t>Citation</a:t>
            </a:r>
            <a:r>
              <a:rPr lang="en-US" sz="1600">
                <a:solidFill>
                  <a:schemeClr val="tx1"/>
                </a:solidFill>
                <a:latin typeface="Times New Roman"/>
                <a:cs typeface="Times New Roman"/>
              </a:rPr>
              <a:t>: P. Indoriya et al., 2022 IEEE Conference, DOI: 10.1109/...(9908981) </a:t>
            </a:r>
            <a:endParaRPr lang="en-US" sz="1600" dirty="0">
              <a:solidFill>
                <a:schemeClr val="tx1"/>
              </a:solidFill>
              <a:latin typeface="Times New Roman"/>
              <a:cs typeface="Times New Roman"/>
            </a:endParaRPr>
          </a:p>
          <a:p>
            <a:pPr marL="76200" indent="0">
              <a:buNone/>
            </a:pPr>
            <a:r>
              <a:rPr lang="en-US" sz="2000" b="1">
                <a:latin typeface="Times New Roman"/>
              </a:rPr>
              <a:t>4. Ayurvedic Medicine Predictor Software</a:t>
            </a:r>
            <a:endParaRPr lang="en-US" sz="2000" b="1" dirty="0">
              <a:latin typeface="Times New Roman"/>
            </a:endParaRPr>
          </a:p>
          <a:p>
            <a:r>
              <a:rPr lang="en-US" sz="1600" b="1" dirty="0">
                <a:solidFill>
                  <a:schemeClr val="tx1"/>
                </a:solidFill>
                <a:latin typeface="Times New Roman"/>
                <a:cs typeface="Times New Roman"/>
              </a:rPr>
              <a:t>Title</a:t>
            </a:r>
            <a:r>
              <a:rPr lang="en-US" sz="1600" dirty="0">
                <a:solidFill>
                  <a:schemeClr val="tx1"/>
                </a:solidFill>
                <a:latin typeface="Times New Roman"/>
                <a:cs typeface="Times New Roman"/>
              </a:rPr>
              <a:t>: "Software for Finding Ayurvedic Medicines for Diseases and Symptoms"</a:t>
            </a:r>
            <a:br>
              <a:rPr lang="en-US" sz="1600" dirty="0">
                <a:latin typeface="Times New Roman"/>
                <a:cs typeface="Times New Roman"/>
              </a:rPr>
            </a:br>
            <a:r>
              <a:rPr lang="en-US" sz="1600" dirty="0">
                <a:solidFill>
                  <a:schemeClr val="tx1"/>
                </a:solidFill>
                <a:latin typeface="Times New Roman"/>
                <a:cs typeface="Times New Roman"/>
              </a:rPr>
              <a:t> </a:t>
            </a:r>
            <a:r>
              <a:rPr lang="en-US" sz="1600" b="1" dirty="0">
                <a:solidFill>
                  <a:schemeClr val="tx1"/>
                </a:solidFill>
                <a:latin typeface="Times New Roman"/>
                <a:cs typeface="Times New Roman"/>
              </a:rPr>
              <a:t>Citation</a:t>
            </a:r>
            <a:r>
              <a:rPr lang="en-US" sz="1600" dirty="0">
                <a:solidFill>
                  <a:schemeClr val="tx1"/>
                </a:solidFill>
                <a:latin typeface="Times New Roman"/>
                <a:cs typeface="Times New Roman"/>
              </a:rPr>
              <a:t>: IEEE Conference Proceedings, 2024, DOI: </a:t>
            </a:r>
            <a:r>
              <a:rPr lang="en-US" sz="1600">
                <a:solidFill>
                  <a:schemeClr val="tx1"/>
                </a:solidFill>
                <a:latin typeface="Times New Roman"/>
                <a:cs typeface="Times New Roman"/>
              </a:rPr>
              <a:t>10.1109/...(11071063) </a:t>
            </a:r>
            <a:endParaRPr lang="en-US" sz="1600" dirty="0">
              <a:solidFill>
                <a:schemeClr val="tx1"/>
              </a:solidFill>
              <a:latin typeface="Times New Roman"/>
              <a:cs typeface="Times New Roman"/>
            </a:endParaRPr>
          </a:p>
          <a:p>
            <a:pPr marL="76200" indent="0">
              <a:buNone/>
            </a:pPr>
            <a:r>
              <a:rPr lang="en-US" sz="2000" b="1">
                <a:latin typeface="Times New Roman"/>
              </a:rPr>
              <a:t>5. AI-Driven Ayurvedic Personalization</a:t>
            </a:r>
            <a:endParaRPr lang="en-US" sz="2000" b="1" dirty="0">
              <a:latin typeface="Times New Roman"/>
            </a:endParaRPr>
          </a:p>
          <a:p>
            <a:r>
              <a:rPr lang="en-US" sz="1600" b="1">
                <a:solidFill>
                  <a:schemeClr val="tx1"/>
                </a:solidFill>
                <a:latin typeface="Times New Roman"/>
                <a:cs typeface="Times New Roman"/>
              </a:rPr>
              <a:t>Title</a:t>
            </a:r>
            <a:r>
              <a:rPr lang="en-US" sz="1600">
                <a:solidFill>
                  <a:schemeClr val="tx1"/>
                </a:solidFill>
                <a:latin typeface="Times New Roman"/>
                <a:cs typeface="Times New Roman"/>
              </a:rPr>
              <a:t>: "Heart Disease Diagnosis and Diet Recommendation System Using Ayurvedic Principles"</a:t>
            </a:r>
            <a:br>
              <a:rPr lang="en-US" sz="1600" dirty="0">
                <a:latin typeface="Times New Roman"/>
                <a:cs typeface="Times New Roman"/>
              </a:rPr>
            </a:br>
            <a:r>
              <a:rPr lang="en-US" sz="1600" dirty="0">
                <a:solidFill>
                  <a:schemeClr val="tx1"/>
                </a:solidFill>
                <a:latin typeface="Times New Roman"/>
                <a:cs typeface="Times New Roman"/>
              </a:rPr>
              <a:t> </a:t>
            </a:r>
            <a:r>
              <a:rPr lang="en-US" sz="1600" b="1">
                <a:solidFill>
                  <a:schemeClr val="tx1"/>
                </a:solidFill>
                <a:latin typeface="Times New Roman"/>
                <a:cs typeface="Times New Roman"/>
              </a:rPr>
              <a:t>Citation</a:t>
            </a:r>
            <a:r>
              <a:rPr lang="en-US" sz="1600">
                <a:solidFill>
                  <a:schemeClr val="tx1"/>
                </a:solidFill>
                <a:latin typeface="Times New Roman"/>
                <a:cs typeface="Times New Roman"/>
              </a:rPr>
              <a:t>: EAI/IEEE Endorsed Transactions (IEEE format), 2024, DOI: ...(6016) </a:t>
            </a:r>
            <a:endParaRPr lang="en-US" sz="1600" dirty="0">
              <a:solidFill>
                <a:schemeClr val="tx1"/>
              </a:solidFill>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7</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Bioinformatics</vt:lpstr>
      <vt:lpstr>Comprehensive Cloud-based practice  management  and nutrient analysis software for Ayurvedic Dietitians, Tailored for Ayurveda-Focused Diet Plans </vt:lpstr>
      <vt:lpstr>Problem Statement Number: SIH250424</vt:lpstr>
      <vt:lpstr>Objectives</vt:lpstr>
      <vt:lpstr>Background and related work</vt:lpstr>
      <vt:lpstr>Analysis of Problem Statement</vt:lpstr>
      <vt:lpstr>Analysis of Problem Statement</vt:lpstr>
      <vt:lpstr>Technology Stack Components:</vt:lpstr>
      <vt:lpstr>Technology Stack Components:</vt:lpstr>
      <vt:lpstr>Basic Flow of the Project</vt:lpstr>
      <vt:lpstr>Innovation / Novel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revision>153</cp:revision>
  <dcterms:modified xsi:type="dcterms:W3CDTF">2026-01-13T07:46:45Z</dcterms:modified>
</cp:coreProperties>
</file>